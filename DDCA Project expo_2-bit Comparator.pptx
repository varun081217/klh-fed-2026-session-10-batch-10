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872D130-594C-4FF2-C6B8-81E8F516931C}">
          <p14:sldIdLst>
            <p14:sldId id="256"/>
          </p14:sldIdLst>
        </p14:section>
        <p14:section name="Problem" id="{30B97C88-6DD2-B0C1-087D-E70877F237BF}">
          <p14:sldIdLst>
            <p14:sldId id="257"/>
          </p14:sldIdLst>
        </p14:section>
        <p14:section name="Design" id="{235E6478-F51F-92B0-C804-05EA4A5E310F}">
          <p14:sldIdLst>
            <p14:sldId id="258"/>
          </p14:sldIdLst>
        </p14:section>
        <p14:section name="Results" id="{F0FB97E7-7932-234B-1EDA-EFA73E31A2AB}">
          <p14:sldIdLst>
            <p14:sldId id="259"/>
          </p14:sldIdLst>
        </p14:section>
        <p14:section name="Repository" id="{E97E36DB-CC80-B8F1-5F95-B24C3B8B50C2}">
          <p14:sldIdLst>
            <p14:sldId id="26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03" dt="2026-10-15T02:53:38.668"/>
    <p1510:client id="{7BD98562-58A2-923E-1E19-440240CEC3ED}" v="2" dt="2026-10-14T19:13:03.470"/>
    <p1510:client id="{7FCC9756-4E73-3766-0585-BC1A5E1555C0}" v="54" dt="2026-10-15T01:44:36.062"/>
    <p1510:client id="{CFC0CE33-70CD-3EC8-B84A-2BD30CB38161}" v="138" dt="2026-10-15T03:05:38.6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5977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project: a 2-bit magnitude comparator compares two 2-bit unsigned numbers A (A1A0) and B (B1B0) and drives three outputs: A greater than B, A equal to B, A less than B. Exactly one output is high for every input pair.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State the problem: compare two 2-bit unsigned numbers and raise exactly one of three outputs. Mention why hardware beats software for this fixed rule. Applications: ALUs use comparators for conditional branches, sorting networks and arbiters pick the larger value, control systems compare a reading to a set-point, caches compare address tags.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Left: the 16-row truth table, with the active output highlighted. Right: the gate-level circuit. Two XNOR gates give per-bit equality x1 and x0. A=B is x1 AND x0. A&gt;B is true when the MSB of A is 1 and of B is 0, or the MSBs match and A0&gt;B0. A&lt;B is NOR of the other two because the outputs are one-hot.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the four steps. The demo artefact is the design, the testbench, the truth table and the waveform. In the waveform each 10 ns the inputs step to the next A,B pair and exactly one of the three outputs is high. The 16/16 result in this deck comes from a bit-accurate model of the same gate equations; run tb_comparator_2bit.v in Icarus Verilog, Vivado or EDA Playground to reproduce it on the Verilog itself.</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Repository contents. Replace &lt;your-username&gt; with your GitHub username after pushing the project folder. Run: iverilog -o sim comparator_2bit.v tb_comparator_2bit.v, then vvp sim, then gtkwave comparator_2bit.vcd.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NAVY">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85216" y="2514600"/>
            <a:ext cx="6766560" cy="137160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a:p>
        </p:txBody>
      </p:sp>
      <p:sp>
        <p:nvSpPr>
          <p:cNvPr id="3" name="Text 0"/>
          <p:cNvSpPr>
            <a:spLocks noGrp="1"/>
          </p:cNvSpPr>
          <p:nvPr>
            <p:ph type="body" idx="101" hasCustomPrompt="1"/>
          </p:nvPr>
        </p:nvSpPr>
        <p:spPr>
          <a:xfrm>
            <a:off x="630936" y="3931920"/>
            <a:ext cx="6766560" cy="411480"/>
          </a:xfrm>
          <a:prstGeom prst="rect">
            <a:avLst/>
          </a:prstGeom>
          <a:noFill/>
          <a:ln/>
        </p:spPr>
        <p:txBody>
          <a:bodyPr wrap="square" rtlCol="0"/>
          <a:lstStyle>
            <a:lvl1pPr marL="0" indent="0" algn="l">
              <a:buNone/>
              <a:defRPr lang="en-US" sz="1600" i="1" dirty="0">
                <a:solidFill>
                  <a:schemeClr val="bg2"/>
                </a:solidFill>
              </a:defRPr>
            </a:lvl1pPr>
          </a:lstStyle>
          <a:p>
            <a:pPr marL="0" indent="0" algn="l">
              <a:buNone/>
            </a:pPr>
            <a:endParaRPr lang="en-US" sz="16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77240"/>
            <a:ext cx="11064240" cy="68580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a:p>
        </p:txBody>
      </p:sp>
      <p:sp>
        <p:nvSpPr>
          <p:cNvPr id="3" name="Text 0"/>
          <p:cNvSpPr/>
          <p:nvPr/>
        </p:nvSpPr>
        <p:spPr>
          <a:xfrm>
            <a:off x="457200" y="6446520"/>
            <a:ext cx="5486400" cy="228600"/>
          </a:xfrm>
          <a:prstGeom prst="rect">
            <a:avLst/>
          </a:prstGeom>
          <a:noFill/>
          <a:ln/>
        </p:spPr>
        <p:txBody>
          <a:bodyPr wrap="square" lIns="0" tIns="0" rIns="0" bIns="0" rtlCol="0" anchor="ctr"/>
          <a:lstStyle/>
          <a:p>
            <a:pPr marL="0" indent="0">
              <a:buNone/>
            </a:pPr>
            <a:r>
              <a:rPr lang="en-US" sz="1000">
                <a:solidFill>
                  <a:schemeClr val="accent4"/>
                </a:solidFill>
              </a:rPr>
              <a:t>2-Bit Magnitude Comparator</a:t>
            </a:r>
            <a:endParaRPr lang="en-US" sz="1000"/>
          </a:p>
        </p:txBody>
      </p:sp>
      <p:sp>
        <p:nvSpPr>
          <p:cNvPr id="25" name="Slide Number Placeholder 0"/>
          <p:cNvSpPr>
            <a:spLocks noGrp="1"/>
          </p:cNvSpPr>
          <p:nvPr>
            <p:ph type="sldNum" sz="quarter" idx="4294967295"/>
          </p:nvPr>
        </p:nvSpPr>
        <p:spPr>
          <a:xfrm>
            <a:off x="11201400" y="644652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NAVY">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77240"/>
            <a:ext cx="11064240" cy="68580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a:p>
        </p:txBody>
      </p:sp>
      <p:sp>
        <p:nvSpPr>
          <p:cNvPr id="3" name="Text 0"/>
          <p:cNvSpPr/>
          <p:nvPr/>
        </p:nvSpPr>
        <p:spPr>
          <a:xfrm>
            <a:off x="457200" y="6446520"/>
            <a:ext cx="5486400" cy="228600"/>
          </a:xfrm>
          <a:prstGeom prst="rect">
            <a:avLst/>
          </a:prstGeom>
          <a:noFill/>
          <a:ln/>
        </p:spPr>
        <p:txBody>
          <a:bodyPr wrap="square" lIns="0" tIns="0" rIns="0" bIns="0" rtlCol="0" anchor="ctr"/>
          <a:lstStyle/>
          <a:p>
            <a:pPr marL="0" indent="0">
              <a:buNone/>
            </a:pPr>
            <a:r>
              <a:rPr lang="en-US" sz="1000">
                <a:solidFill>
                  <a:schemeClr val="accent3"/>
                </a:solidFill>
              </a:rPr>
              <a:t>2-Bit Magnitude Comparator</a:t>
            </a:r>
            <a:endParaRPr lang="en-US" sz="1000"/>
          </a:p>
        </p:txBody>
      </p:sp>
      <p:sp>
        <p:nvSpPr>
          <p:cNvPr id="25" name="Slide Number Placeholder 0"/>
          <p:cNvSpPr>
            <a:spLocks noGrp="1"/>
          </p:cNvSpPr>
          <p:nvPr>
            <p:ph type="sldNum" sz="quarter" idx="4294967295"/>
          </p:nvPr>
        </p:nvSpPr>
        <p:spPr>
          <a:xfrm>
            <a:off x="11201400" y="644652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4652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ircle outer"/>
          <p:cNvSpPr/>
          <p:nvPr/>
        </p:nvSpPr>
        <p:spPr>
          <a:xfrm>
            <a:off x="7680960" y="457200"/>
            <a:ext cx="4206240" cy="4206240"/>
          </a:xfrm>
          <a:prstGeom prst="ellipse">
            <a:avLst/>
          </a:prstGeom>
          <a:solidFill>
            <a:schemeClr val="accent6">
              <a:alpha val="45000"/>
            </a:schemeClr>
          </a:solidFill>
          <a:ln w="12700">
            <a:solidFill>
              <a:schemeClr val="accent6">
                <a:alpha val="0"/>
              </a:schemeClr>
            </a:solidFill>
            <a:prstDash val="solid"/>
          </a:ln>
        </p:spPr>
      </p:sp>
      <p:sp>
        <p:nvSpPr>
          <p:cNvPr id="3" name="Circle middle"/>
          <p:cNvSpPr/>
          <p:nvPr/>
        </p:nvSpPr>
        <p:spPr>
          <a:xfrm>
            <a:off x="8366760" y="1143000"/>
            <a:ext cx="2834640" cy="2834640"/>
          </a:xfrm>
          <a:prstGeom prst="ellipse">
            <a:avLst/>
          </a:prstGeom>
          <a:solidFill>
            <a:schemeClr val="accent6">
              <a:alpha val="85000"/>
            </a:schemeClr>
          </a:solidFill>
          <a:ln w="12700">
            <a:solidFill>
              <a:schemeClr val="accent6">
                <a:alpha val="0"/>
              </a:schemeClr>
            </a:solidFill>
            <a:prstDash val="solid"/>
          </a:ln>
        </p:spPr>
      </p:sp>
      <p:sp>
        <p:nvSpPr>
          <p:cNvPr id="4" name="Circle inner"/>
          <p:cNvSpPr/>
          <p:nvPr/>
        </p:nvSpPr>
        <p:spPr>
          <a:xfrm>
            <a:off x="9098280" y="1874520"/>
            <a:ext cx="1371600" cy="1371600"/>
          </a:xfrm>
          <a:prstGeom prst="ellipse">
            <a:avLst/>
          </a:prstGeom>
          <a:solidFill>
            <a:schemeClr val="accent2"/>
          </a:solidFill>
          <a:ln w="12700">
            <a:solidFill>
              <a:schemeClr val="accent2">
                <a:alpha val="0"/>
              </a:schemeClr>
            </a:solidFill>
            <a:prstDash val="solid"/>
          </a:ln>
        </p:spPr>
      </p:sp>
      <p:sp>
        <p:nvSpPr>
          <p:cNvPr id="5" name="Text 3"/>
          <p:cNvSpPr txBox="1"/>
          <p:nvPr/>
        </p:nvSpPr>
        <p:spPr>
          <a:xfrm>
            <a:off x="9098280" y="1874520"/>
            <a:ext cx="1371600" cy="1371600"/>
          </a:xfrm>
          <a:prstGeom prst="rect">
            <a:avLst/>
          </a:prstGeom>
          <a:noFill/>
          <a:ln/>
        </p:spPr>
        <p:txBody>
          <a:bodyPr wrap="square" lIns="0" tIns="0" rIns="0" bIns="0" rtlCol="0" anchor="ctr"/>
          <a:lstStyle/>
          <a:p>
            <a:pPr marL="0" indent="0" algn="ctr">
              <a:buNone/>
            </a:pPr>
            <a:r>
              <a:rPr lang="en-US" sz="2600" b="1">
                <a:solidFill>
                  <a:schemeClr val="bg1"/>
                </a:solidFill>
              </a:rPr>
              <a:t>&gt; = &lt;</a:t>
            </a:r>
            <a:endParaRPr lang="en-US" sz="2600"/>
          </a:p>
        </p:txBody>
      </p:sp>
      <p:sp>
        <p:nvSpPr>
          <p:cNvPr id="6" name="Text 4"/>
          <p:cNvSpPr txBox="1"/>
          <p:nvPr/>
        </p:nvSpPr>
        <p:spPr>
          <a:xfrm>
            <a:off x="630936" y="1874520"/>
            <a:ext cx="6400800" cy="274320"/>
          </a:xfrm>
          <a:prstGeom prst="rect">
            <a:avLst/>
          </a:prstGeom>
          <a:noFill/>
          <a:ln/>
        </p:spPr>
        <p:txBody>
          <a:bodyPr wrap="square" lIns="0" tIns="0" rIns="0" bIns="0" rtlCol="0" anchor="ctr"/>
          <a:lstStyle/>
          <a:p>
            <a:pPr marL="0" indent="0">
              <a:buNone/>
            </a:pPr>
            <a:r>
              <a:rPr lang="en-US" sz="1200" b="1" kern="0" spc="400">
                <a:solidFill>
                  <a:schemeClr val="accent3"/>
                </a:solidFill>
              </a:rPr>
              <a:t>DIGITAL LOGIC DESIGN PROJECT</a:t>
            </a:r>
            <a:endParaRPr lang="en-US" sz="1200"/>
          </a:p>
        </p:txBody>
      </p:sp>
      <p:sp>
        <p:nvSpPr>
          <p:cNvPr id="7" name="Text 0"/>
          <p:cNvSpPr>
            <a:spLocks noGrp="1"/>
          </p:cNvSpPr>
          <p:nvPr>
            <p:ph type="title" idx="100" hasCustomPrompt="1"/>
          </p:nvPr>
        </p:nvSpPr>
        <p:spPr>
          <a:xfrm>
            <a:off x="585216" y="2514600"/>
            <a:ext cx="6766560" cy="1371600"/>
          </a:xfrm>
          <a:prstGeom prst="rect">
            <a:avLst/>
          </a:prstGeom>
          <a:noFill/>
          <a:ln/>
        </p:spPr>
        <p:txBody>
          <a:bodyPr wrap="square" lIns="0" tIns="0" rIns="0" bIns="0" rtlCol="0" anchor="t"/>
          <a:lstStyle/>
          <a:p>
            <a:pPr marL="0" indent="0" algn="l">
              <a:buNone/>
            </a:pPr>
            <a:r>
              <a:rPr lang="en-US" sz="3400" b="1">
                <a:solidFill>
                  <a:schemeClr val="bg1"/>
                </a:solidFill>
              </a:rPr>
              <a:t>2-Bit Magnitude Comparator</a:t>
            </a:r>
            <a:endParaRPr lang="en-US" sz="3400"/>
          </a:p>
          <a:p>
            <a:pPr marL="0" indent="0" algn="l">
              <a:buNone/>
            </a:pPr>
            <a:r>
              <a:rPr lang="en-US" sz="3400" b="1">
                <a:solidFill>
                  <a:schemeClr val="bg1"/>
                </a:solidFill>
              </a:rPr>
              <a:t>(A&gt;B, A=B, A&lt;B)</a:t>
            </a:r>
            <a:endParaRPr lang="en-US" sz="3400"/>
          </a:p>
        </p:txBody>
      </p:sp>
      <p:sp>
        <p:nvSpPr>
          <p:cNvPr id="8" name="Text 0"/>
          <p:cNvSpPr>
            <a:spLocks noGrp="1"/>
          </p:cNvSpPr>
          <p:nvPr>
            <p:ph type="body" idx="101" hasCustomPrompt="1"/>
          </p:nvPr>
        </p:nvSpPr>
        <p:spPr>
          <a:xfrm>
            <a:off x="630936" y="3931920"/>
            <a:ext cx="6766560" cy="411480"/>
          </a:xfrm>
          <a:prstGeom prst="rect">
            <a:avLst/>
          </a:prstGeom>
          <a:noFill/>
          <a:ln/>
        </p:spPr>
        <p:txBody>
          <a:bodyPr wrap="square" lIns="0" tIns="0" rIns="0" bIns="0" rtlCol="0" anchor="t"/>
          <a:lstStyle/>
          <a:p>
            <a:pPr marL="0" indent="0" algn="l">
              <a:buNone/>
            </a:pPr>
            <a:r>
              <a:rPr lang="en-US" sz="1600" i="1">
                <a:solidFill>
                  <a:schemeClr val="bg2"/>
                </a:solidFill>
              </a:rPr>
              <a:t>Design and Simulation using Combinational Logic</a:t>
            </a:r>
            <a:endParaRPr lang="en-US" sz="1600"/>
          </a:p>
        </p:txBody>
      </p:sp>
      <p:sp>
        <p:nvSpPr>
          <p:cNvPr id="9" name="Title rule"/>
          <p:cNvSpPr/>
          <p:nvPr/>
        </p:nvSpPr>
        <p:spPr>
          <a:xfrm>
            <a:off x="649224" y="4480560"/>
            <a:ext cx="1463040" cy="36576"/>
          </a:xfrm>
          <a:prstGeom prst="rect">
            <a:avLst/>
          </a:prstGeom>
          <a:solidFill>
            <a:schemeClr val="accent2"/>
          </a:solidFill>
          <a:ln w="12700">
            <a:solidFill>
              <a:schemeClr val="accent2"/>
            </a:solidFill>
            <a:prstDash val="solid"/>
          </a:ln>
        </p:spPr>
      </p:sp>
      <p:sp>
        <p:nvSpPr>
          <p:cNvPr id="10" name="Text 8"/>
          <p:cNvSpPr txBox="1"/>
          <p:nvPr/>
        </p:nvSpPr>
        <p:spPr>
          <a:xfrm>
            <a:off x="630936" y="4754880"/>
            <a:ext cx="6400800" cy="274320"/>
          </a:xfrm>
          <a:prstGeom prst="rect">
            <a:avLst/>
          </a:prstGeom>
          <a:noFill/>
          <a:ln/>
        </p:spPr>
        <p:txBody>
          <a:bodyPr wrap="square" lIns="0" tIns="0" rIns="0" bIns="0" rtlCol="0" anchor="ctr"/>
          <a:lstStyle/>
          <a:p>
            <a:pPr marL="0" indent="0">
              <a:buNone/>
            </a:pPr>
            <a:r>
              <a:rPr lang="en-US" sz="1200">
                <a:solidFill>
                  <a:schemeClr val="accent3"/>
                </a:solidFill>
              </a:rPr>
              <a:t>Simulated in Verilog  •  Version-controlled on GitHub</a:t>
            </a:r>
            <a:endParaRPr lang="en-US"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ctr"/>
          <a:lstStyle/>
          <a:p>
            <a:pPr marL="0" indent="0">
              <a:buNone/>
            </a:pPr>
            <a:r>
              <a:rPr lang="en-US" sz="1200" b="1" kern="0" spc="300">
                <a:solidFill>
                  <a:schemeClr val="accent1"/>
                </a:solidFill>
              </a:rPr>
              <a:t>PROBLEM STATEMENT</a:t>
            </a:r>
            <a:endParaRPr lang="en-US" sz="1200"/>
          </a:p>
        </p:txBody>
      </p:sp>
      <p:sp>
        <p:nvSpPr>
          <p:cNvPr id="3" name="Text 0"/>
          <p:cNvSpPr>
            <a:spLocks noGrp="1"/>
          </p:cNvSpPr>
          <p:nvPr>
            <p:ph type="title" idx="100" hasCustomPrompt="1"/>
          </p:nvPr>
        </p:nvSpPr>
        <p:spPr>
          <a:xfrm>
            <a:off x="548640" y="777240"/>
            <a:ext cx="11064240" cy="685800"/>
          </a:xfrm>
          <a:prstGeom prst="rect">
            <a:avLst/>
          </a:prstGeom>
          <a:noFill/>
          <a:ln/>
        </p:spPr>
        <p:txBody>
          <a:bodyPr wrap="square" lIns="0" tIns="0" rIns="0" bIns="0" rtlCol="0" anchor="ctr"/>
          <a:lstStyle/>
          <a:p>
            <a:pPr marL="0" indent="0" algn="l">
              <a:buNone/>
            </a:pPr>
            <a:r>
              <a:rPr lang="en-US" sz="3000" b="1">
                <a:solidFill>
                  <a:schemeClr val="tx1"/>
                </a:solidFill>
              </a:rPr>
              <a:t>Why Do We Need a Magnitude Comparator?</a:t>
            </a:r>
            <a:endParaRPr lang="en-US" sz="3000"/>
          </a:p>
        </p:txBody>
      </p:sp>
      <p:sp>
        <p:nvSpPr>
          <p:cNvPr id="4" name="Problem card"/>
          <p:cNvSpPr/>
          <p:nvPr/>
        </p:nvSpPr>
        <p:spPr>
          <a:xfrm>
            <a:off x="548640" y="1691640"/>
            <a:ext cx="6492240" cy="4526280"/>
          </a:xfrm>
          <a:prstGeom prst="roundRect">
            <a:avLst>
              <a:gd name="adj" fmla="val 2020"/>
            </a:avLst>
          </a:prstGeom>
          <a:solidFill>
            <a:schemeClr val="bg2"/>
          </a:solidFill>
          <a:ln w="6350">
            <a:solidFill>
              <a:schemeClr val="bg2"/>
            </a:solidFill>
            <a:prstDash val="solid"/>
          </a:ln>
        </p:spPr>
      </p:sp>
      <p:sp>
        <p:nvSpPr>
          <p:cNvPr id="5" name="Text 3"/>
          <p:cNvSpPr txBox="1"/>
          <p:nvPr/>
        </p:nvSpPr>
        <p:spPr>
          <a:xfrm>
            <a:off x="868680" y="1920240"/>
            <a:ext cx="5852160" cy="365760"/>
          </a:xfrm>
          <a:prstGeom prst="rect">
            <a:avLst/>
          </a:prstGeom>
          <a:noFill/>
          <a:ln/>
        </p:spPr>
        <p:txBody>
          <a:bodyPr wrap="square" lIns="0" tIns="0" rIns="0" bIns="0" rtlCol="0" anchor="ctr"/>
          <a:lstStyle/>
          <a:p>
            <a:pPr marL="0" indent="0">
              <a:buNone/>
            </a:pPr>
            <a:r>
              <a:rPr lang="en-US" sz="1600" b="1">
                <a:solidFill>
                  <a:schemeClr val="tx2"/>
                </a:solidFill>
              </a:rPr>
              <a:t>What the circuit must solve</a:t>
            </a:r>
            <a:endParaRPr lang="en-US" sz="1600"/>
          </a:p>
        </p:txBody>
      </p:sp>
      <p:sp>
        <p:nvSpPr>
          <p:cNvPr id="6" name="Bullet dot 1"/>
          <p:cNvSpPr/>
          <p:nvPr/>
        </p:nvSpPr>
        <p:spPr>
          <a:xfrm>
            <a:off x="886968" y="2624328"/>
            <a:ext cx="128016" cy="128016"/>
          </a:xfrm>
          <a:prstGeom prst="ellipse">
            <a:avLst/>
          </a:prstGeom>
          <a:solidFill>
            <a:schemeClr val="accent1"/>
          </a:solidFill>
          <a:ln w="12700">
            <a:solidFill>
              <a:schemeClr val="accent1"/>
            </a:solidFill>
            <a:prstDash val="solid"/>
          </a:ln>
        </p:spPr>
      </p:sp>
      <p:sp>
        <p:nvSpPr>
          <p:cNvPr id="7" name="Text 5"/>
          <p:cNvSpPr txBox="1"/>
          <p:nvPr/>
        </p:nvSpPr>
        <p:spPr>
          <a:xfrm>
            <a:off x="1234440" y="2514600"/>
            <a:ext cx="5486400" cy="731520"/>
          </a:xfrm>
          <a:prstGeom prst="rect">
            <a:avLst/>
          </a:prstGeom>
          <a:noFill/>
          <a:ln/>
        </p:spPr>
        <p:txBody>
          <a:bodyPr wrap="square" lIns="0" tIns="0" rIns="0" bIns="0" rtlCol="0" anchor="t"/>
          <a:lstStyle/>
          <a:p>
            <a:pPr marL="0" indent="0">
              <a:buNone/>
            </a:pPr>
            <a:r>
              <a:rPr lang="en-US" sz="1400">
                <a:solidFill>
                  <a:schemeClr val="tx1"/>
                </a:solidFill>
              </a:rPr>
              <a:t>Digital systems often need to know whether one binary number is greater than, equal to, or less than another.</a:t>
            </a:r>
            <a:endParaRPr lang="en-US" sz="1400"/>
          </a:p>
        </p:txBody>
      </p:sp>
      <p:sp>
        <p:nvSpPr>
          <p:cNvPr id="8" name="Bullet dot 2"/>
          <p:cNvSpPr/>
          <p:nvPr/>
        </p:nvSpPr>
        <p:spPr>
          <a:xfrm>
            <a:off x="886968" y="3538728"/>
            <a:ext cx="128016" cy="128016"/>
          </a:xfrm>
          <a:prstGeom prst="ellipse">
            <a:avLst/>
          </a:prstGeom>
          <a:solidFill>
            <a:schemeClr val="accent1"/>
          </a:solidFill>
          <a:ln w="12700">
            <a:solidFill>
              <a:schemeClr val="accent1"/>
            </a:solidFill>
            <a:prstDash val="solid"/>
          </a:ln>
        </p:spPr>
      </p:sp>
      <p:sp>
        <p:nvSpPr>
          <p:cNvPr id="9" name="Text 7"/>
          <p:cNvSpPr txBox="1"/>
          <p:nvPr/>
        </p:nvSpPr>
        <p:spPr>
          <a:xfrm>
            <a:off x="1234440" y="3429000"/>
            <a:ext cx="5486400" cy="731520"/>
          </a:xfrm>
          <a:prstGeom prst="rect">
            <a:avLst/>
          </a:prstGeom>
          <a:noFill/>
          <a:ln/>
        </p:spPr>
        <p:txBody>
          <a:bodyPr wrap="square" lIns="0" tIns="0" rIns="0" bIns="0" rtlCol="0" anchor="t"/>
          <a:lstStyle/>
          <a:p>
            <a:pPr marL="0" indent="0">
              <a:buNone/>
            </a:pPr>
            <a:r>
              <a:rPr lang="en-US" sz="1400">
                <a:solidFill>
                  <a:schemeClr val="tx1"/>
                </a:solidFill>
              </a:rPr>
              <a:t>Doing this in software needs a processor and adds latency for what is a simple, fixed logic rule.</a:t>
            </a:r>
            <a:endParaRPr lang="en-US" sz="1400"/>
          </a:p>
        </p:txBody>
      </p:sp>
      <p:sp>
        <p:nvSpPr>
          <p:cNvPr id="10" name="Bullet dot 3"/>
          <p:cNvSpPr/>
          <p:nvPr/>
        </p:nvSpPr>
        <p:spPr>
          <a:xfrm>
            <a:off x="886968" y="4453128"/>
            <a:ext cx="128016" cy="128016"/>
          </a:xfrm>
          <a:prstGeom prst="ellipse">
            <a:avLst/>
          </a:prstGeom>
          <a:solidFill>
            <a:schemeClr val="accent1"/>
          </a:solidFill>
          <a:ln w="12700">
            <a:solidFill>
              <a:schemeClr val="accent1"/>
            </a:solidFill>
            <a:prstDash val="solid"/>
          </a:ln>
        </p:spPr>
      </p:sp>
      <p:sp>
        <p:nvSpPr>
          <p:cNvPr id="11" name="Text 9"/>
          <p:cNvSpPr txBox="1"/>
          <p:nvPr/>
        </p:nvSpPr>
        <p:spPr>
          <a:xfrm>
            <a:off x="1234440" y="4343400"/>
            <a:ext cx="5486400" cy="731520"/>
          </a:xfrm>
          <a:prstGeom prst="rect">
            <a:avLst/>
          </a:prstGeom>
          <a:noFill/>
          <a:ln/>
        </p:spPr>
        <p:txBody>
          <a:bodyPr wrap="square" lIns="0" tIns="0" rIns="0" bIns="0" rtlCol="0" anchor="t"/>
          <a:lstStyle/>
          <a:p>
            <a:pPr marL="0" indent="0">
              <a:buNone/>
            </a:pPr>
            <a:r>
              <a:rPr lang="en-US" sz="1400">
                <a:solidFill>
                  <a:schemeClr val="tx1"/>
                </a:solidFill>
              </a:rPr>
              <a:t>The circuit must compare A[1:0] and B[1:0] for all 16 input pairs and assert exactly one of A&gt;B, A=B, A&lt;B.</a:t>
            </a:r>
            <a:endParaRPr lang="en-US" sz="1400"/>
          </a:p>
        </p:txBody>
      </p:sp>
      <p:sp>
        <p:nvSpPr>
          <p:cNvPr id="12" name="Bullet dot 4"/>
          <p:cNvSpPr/>
          <p:nvPr/>
        </p:nvSpPr>
        <p:spPr>
          <a:xfrm>
            <a:off x="886968" y="5367528"/>
            <a:ext cx="128016" cy="128016"/>
          </a:xfrm>
          <a:prstGeom prst="ellipse">
            <a:avLst/>
          </a:prstGeom>
          <a:solidFill>
            <a:schemeClr val="accent1"/>
          </a:solidFill>
          <a:ln w="12700">
            <a:solidFill>
              <a:schemeClr val="accent1"/>
            </a:solidFill>
            <a:prstDash val="solid"/>
          </a:ln>
        </p:spPr>
      </p:sp>
      <p:sp>
        <p:nvSpPr>
          <p:cNvPr id="13" name="Text 11"/>
          <p:cNvSpPr txBox="1"/>
          <p:nvPr/>
        </p:nvSpPr>
        <p:spPr>
          <a:xfrm>
            <a:off x="1234440" y="5257800"/>
            <a:ext cx="5486400" cy="731520"/>
          </a:xfrm>
          <a:prstGeom prst="rect">
            <a:avLst/>
          </a:prstGeom>
          <a:noFill/>
          <a:ln/>
        </p:spPr>
        <p:txBody>
          <a:bodyPr wrap="square" lIns="0" tIns="0" rIns="0" bIns="0" rtlCol="0" anchor="t"/>
          <a:lstStyle/>
          <a:p>
            <a:pPr marL="0" indent="0">
              <a:buNone/>
            </a:pPr>
            <a:r>
              <a:rPr lang="en-US" sz="1400">
                <a:solidFill>
                  <a:schemeClr val="tx1"/>
                </a:solidFill>
              </a:rPr>
              <a:t>It should use minimum logic: two XNOR gates plus a few AND, OR and NOR gates.</a:t>
            </a:r>
            <a:endParaRPr lang="en-US" sz="1400"/>
          </a:p>
        </p:txBody>
      </p:sp>
      <p:sp>
        <p:nvSpPr>
          <p:cNvPr id="14" name="Applications card"/>
          <p:cNvSpPr/>
          <p:nvPr/>
        </p:nvSpPr>
        <p:spPr>
          <a:xfrm>
            <a:off x="7315200" y="1691640"/>
            <a:ext cx="4343400" cy="4526280"/>
          </a:xfrm>
          <a:prstGeom prst="roundRect">
            <a:avLst>
              <a:gd name="adj" fmla="val 2105"/>
            </a:avLst>
          </a:prstGeom>
          <a:solidFill>
            <a:schemeClr val="tx2"/>
          </a:solidFill>
          <a:ln w="6350">
            <a:solidFill>
              <a:schemeClr val="tx2"/>
            </a:solidFill>
            <a:prstDash val="solid"/>
          </a:ln>
        </p:spPr>
      </p:sp>
      <p:sp>
        <p:nvSpPr>
          <p:cNvPr id="15" name="Applications panel"/>
          <p:cNvSpPr/>
          <p:nvPr/>
        </p:nvSpPr>
        <p:spPr>
          <a:xfrm>
            <a:off x="7589520" y="1965960"/>
            <a:ext cx="3794760" cy="2971800"/>
          </a:xfrm>
          <a:prstGeom prst="roundRect">
            <a:avLst>
              <a:gd name="adj" fmla="val 3077"/>
            </a:avLst>
          </a:prstGeom>
          <a:solidFill>
            <a:schemeClr val="bg1"/>
          </a:solidFill>
          <a:ln w="6350">
            <a:solidFill>
              <a:schemeClr val="bg1"/>
            </a:solidFill>
            <a:prstDash val="solid"/>
          </a:ln>
        </p:spPr>
      </p:sp>
      <p:sp>
        <p:nvSpPr>
          <p:cNvPr id="16" name="Text 14"/>
          <p:cNvSpPr txBox="1"/>
          <p:nvPr/>
        </p:nvSpPr>
        <p:spPr>
          <a:xfrm>
            <a:off x="7818120" y="2057400"/>
            <a:ext cx="3383280" cy="320040"/>
          </a:xfrm>
          <a:prstGeom prst="rect">
            <a:avLst/>
          </a:prstGeom>
          <a:noFill/>
          <a:ln/>
        </p:spPr>
        <p:txBody>
          <a:bodyPr wrap="square" lIns="0" tIns="0" rIns="0" bIns="0" rtlCol="0" anchor="ctr"/>
          <a:lstStyle/>
          <a:p>
            <a:pPr marL="0" indent="0">
              <a:buNone/>
            </a:pPr>
            <a:r>
              <a:rPr lang="en-US" sz="1400" b="1">
                <a:solidFill>
                  <a:schemeClr val="tx2"/>
                </a:solidFill>
              </a:rPr>
              <a:t>Applications</a:t>
            </a:r>
            <a:endParaRPr lang="en-US" sz="1400"/>
          </a:p>
        </p:txBody>
      </p:sp>
      <p:sp>
        <p:nvSpPr>
          <p:cNvPr id="17" name="App circle 1"/>
          <p:cNvSpPr/>
          <p:nvPr/>
        </p:nvSpPr>
        <p:spPr>
          <a:xfrm>
            <a:off x="8229600" y="2468880"/>
            <a:ext cx="594360" cy="594360"/>
          </a:xfrm>
          <a:prstGeom prst="ellipse">
            <a:avLst/>
          </a:prstGeom>
          <a:solidFill>
            <a:schemeClr val="accent1"/>
          </a:solidFill>
          <a:ln w="12700">
            <a:solidFill>
              <a:schemeClr val="accent1"/>
            </a:solidFill>
            <a:prstDash val="solid"/>
          </a:ln>
        </p:spPr>
      </p:sp>
      <p:pic>
        <p:nvPicPr>
          <p:cNvPr id="18" name="Image 0" descr="ALU and CPU icon"/>
          <p:cNvPicPr>
            <a:picLocks noChangeAspect="1"/>
          </p:cNvPicPr>
          <p:nvPr/>
        </p:nvPicPr>
        <p:blipFill>
          <a:blip r:embed="rId3"/>
          <a:stretch>
            <a:fillRect/>
          </a:stretch>
        </p:blipFill>
        <p:spPr>
          <a:xfrm>
            <a:off x="8385048" y="2624328"/>
            <a:ext cx="283464" cy="283464"/>
          </a:xfrm>
          <a:prstGeom prst="rect">
            <a:avLst/>
          </a:prstGeom>
        </p:spPr>
      </p:pic>
      <p:sp>
        <p:nvSpPr>
          <p:cNvPr id="19" name="Text 16"/>
          <p:cNvSpPr txBox="1"/>
          <p:nvPr/>
        </p:nvSpPr>
        <p:spPr>
          <a:xfrm>
            <a:off x="7589520" y="3127248"/>
            <a:ext cx="1897380" cy="274320"/>
          </a:xfrm>
          <a:prstGeom prst="rect">
            <a:avLst/>
          </a:prstGeom>
          <a:noFill/>
          <a:ln/>
        </p:spPr>
        <p:txBody>
          <a:bodyPr wrap="square" lIns="0" tIns="0" rIns="0" bIns="0" rtlCol="0" anchor="ctr"/>
          <a:lstStyle/>
          <a:p>
            <a:pPr marL="0" indent="0" algn="ctr">
              <a:buNone/>
            </a:pPr>
            <a:r>
              <a:rPr lang="en-US" sz="1400">
                <a:solidFill>
                  <a:schemeClr val="tx1"/>
                </a:solidFill>
              </a:rPr>
              <a:t>ALU and CPU</a:t>
            </a:r>
            <a:endParaRPr lang="en-US" sz="1400"/>
          </a:p>
        </p:txBody>
      </p:sp>
      <p:sp>
        <p:nvSpPr>
          <p:cNvPr id="20" name="App circle 2"/>
          <p:cNvSpPr/>
          <p:nvPr/>
        </p:nvSpPr>
        <p:spPr>
          <a:xfrm>
            <a:off x="10126980" y="2468880"/>
            <a:ext cx="594360" cy="594360"/>
          </a:xfrm>
          <a:prstGeom prst="ellipse">
            <a:avLst/>
          </a:prstGeom>
          <a:solidFill>
            <a:schemeClr val="accent1"/>
          </a:solidFill>
          <a:ln w="12700">
            <a:solidFill>
              <a:schemeClr val="accent1"/>
            </a:solidFill>
            <a:prstDash val="solid"/>
          </a:ln>
        </p:spPr>
      </p:sp>
      <p:pic>
        <p:nvPicPr>
          <p:cNvPr id="21" name="Image 1" descr="Sorting, arbiters icon"/>
          <p:cNvPicPr>
            <a:picLocks noChangeAspect="1"/>
          </p:cNvPicPr>
          <p:nvPr/>
        </p:nvPicPr>
        <p:blipFill>
          <a:blip r:embed="rId4"/>
          <a:stretch>
            <a:fillRect/>
          </a:stretch>
        </p:blipFill>
        <p:spPr>
          <a:xfrm>
            <a:off x="10282428" y="2624328"/>
            <a:ext cx="283464" cy="283464"/>
          </a:xfrm>
          <a:prstGeom prst="rect">
            <a:avLst/>
          </a:prstGeom>
        </p:spPr>
      </p:pic>
      <p:sp>
        <p:nvSpPr>
          <p:cNvPr id="22" name="Text 18"/>
          <p:cNvSpPr txBox="1"/>
          <p:nvPr/>
        </p:nvSpPr>
        <p:spPr>
          <a:xfrm>
            <a:off x="9486900" y="3127248"/>
            <a:ext cx="1897380" cy="274320"/>
          </a:xfrm>
          <a:prstGeom prst="rect">
            <a:avLst/>
          </a:prstGeom>
          <a:noFill/>
          <a:ln/>
        </p:spPr>
        <p:txBody>
          <a:bodyPr wrap="square" lIns="0" tIns="0" rIns="0" bIns="0" rtlCol="0" anchor="ctr"/>
          <a:lstStyle/>
          <a:p>
            <a:pPr marL="0" indent="0" algn="ctr">
              <a:buNone/>
            </a:pPr>
            <a:r>
              <a:rPr lang="en-US" sz="1400">
                <a:solidFill>
                  <a:schemeClr val="tx1"/>
                </a:solidFill>
              </a:rPr>
              <a:t>Sorting, arbiters</a:t>
            </a:r>
            <a:endParaRPr lang="en-US" sz="1400"/>
          </a:p>
        </p:txBody>
      </p:sp>
      <p:sp>
        <p:nvSpPr>
          <p:cNvPr id="23" name="App circle 3"/>
          <p:cNvSpPr/>
          <p:nvPr/>
        </p:nvSpPr>
        <p:spPr>
          <a:xfrm>
            <a:off x="8229600" y="3657600"/>
            <a:ext cx="594360" cy="594360"/>
          </a:xfrm>
          <a:prstGeom prst="ellipse">
            <a:avLst/>
          </a:prstGeom>
          <a:solidFill>
            <a:schemeClr val="accent1"/>
          </a:solidFill>
          <a:ln w="12700">
            <a:solidFill>
              <a:schemeClr val="accent1"/>
            </a:solidFill>
            <a:prstDash val="solid"/>
          </a:ln>
        </p:spPr>
      </p:sp>
      <p:pic>
        <p:nvPicPr>
          <p:cNvPr id="24" name="Image 2" descr="Control systems icon"/>
          <p:cNvPicPr>
            <a:picLocks noChangeAspect="1"/>
          </p:cNvPicPr>
          <p:nvPr/>
        </p:nvPicPr>
        <p:blipFill>
          <a:blip r:embed="rId5"/>
          <a:stretch>
            <a:fillRect/>
          </a:stretch>
        </p:blipFill>
        <p:spPr>
          <a:xfrm>
            <a:off x="8385048" y="3813048"/>
            <a:ext cx="283464" cy="283464"/>
          </a:xfrm>
          <a:prstGeom prst="rect">
            <a:avLst/>
          </a:prstGeom>
        </p:spPr>
      </p:pic>
      <p:sp>
        <p:nvSpPr>
          <p:cNvPr id="25" name="Text 20"/>
          <p:cNvSpPr txBox="1"/>
          <p:nvPr/>
        </p:nvSpPr>
        <p:spPr>
          <a:xfrm>
            <a:off x="7589520" y="4315968"/>
            <a:ext cx="1897380" cy="274320"/>
          </a:xfrm>
          <a:prstGeom prst="rect">
            <a:avLst/>
          </a:prstGeom>
          <a:noFill/>
          <a:ln/>
        </p:spPr>
        <p:txBody>
          <a:bodyPr wrap="square" lIns="0" tIns="0" rIns="0" bIns="0" rtlCol="0" anchor="ctr"/>
          <a:lstStyle/>
          <a:p>
            <a:pPr marL="0" indent="0" algn="ctr">
              <a:buNone/>
            </a:pPr>
            <a:r>
              <a:rPr lang="en-US" sz="1400">
                <a:solidFill>
                  <a:schemeClr val="tx1"/>
                </a:solidFill>
              </a:rPr>
              <a:t>Control systems</a:t>
            </a:r>
            <a:endParaRPr lang="en-US" sz="1400"/>
          </a:p>
        </p:txBody>
      </p:sp>
      <p:sp>
        <p:nvSpPr>
          <p:cNvPr id="26" name="App circle 4"/>
          <p:cNvSpPr/>
          <p:nvPr/>
        </p:nvSpPr>
        <p:spPr>
          <a:xfrm>
            <a:off x="10126980" y="3657600"/>
            <a:ext cx="594360" cy="594360"/>
          </a:xfrm>
          <a:prstGeom prst="ellipse">
            <a:avLst/>
          </a:prstGeom>
          <a:solidFill>
            <a:schemeClr val="accent1"/>
          </a:solidFill>
          <a:ln w="12700">
            <a:solidFill>
              <a:schemeClr val="accent1"/>
            </a:solidFill>
            <a:prstDash val="solid"/>
          </a:ln>
        </p:spPr>
      </p:sp>
      <p:pic>
        <p:nvPicPr>
          <p:cNvPr id="27" name="Image 3" descr="Cache, memory icon"/>
          <p:cNvPicPr>
            <a:picLocks noChangeAspect="1"/>
          </p:cNvPicPr>
          <p:nvPr/>
        </p:nvPicPr>
        <p:blipFill>
          <a:blip r:embed="rId6"/>
          <a:stretch>
            <a:fillRect/>
          </a:stretch>
        </p:blipFill>
        <p:spPr>
          <a:xfrm>
            <a:off x="10282428" y="3813048"/>
            <a:ext cx="283464" cy="283464"/>
          </a:xfrm>
          <a:prstGeom prst="rect">
            <a:avLst/>
          </a:prstGeom>
        </p:spPr>
      </p:pic>
      <p:sp>
        <p:nvSpPr>
          <p:cNvPr id="28" name="Text 22"/>
          <p:cNvSpPr txBox="1"/>
          <p:nvPr/>
        </p:nvSpPr>
        <p:spPr>
          <a:xfrm>
            <a:off x="9486900" y="4315968"/>
            <a:ext cx="1897380" cy="274320"/>
          </a:xfrm>
          <a:prstGeom prst="rect">
            <a:avLst/>
          </a:prstGeom>
          <a:noFill/>
          <a:ln/>
        </p:spPr>
        <p:txBody>
          <a:bodyPr wrap="square" lIns="0" tIns="0" rIns="0" bIns="0" rtlCol="0" anchor="ctr"/>
          <a:lstStyle/>
          <a:p>
            <a:pPr marL="0" indent="0" algn="ctr">
              <a:buNone/>
            </a:pPr>
            <a:r>
              <a:rPr lang="en-US" sz="1400">
                <a:solidFill>
                  <a:schemeClr val="tx1"/>
                </a:solidFill>
              </a:rPr>
              <a:t>Cache, memory</a:t>
            </a:r>
            <a:endParaRPr lang="en-US" sz="1400"/>
          </a:p>
        </p:txBody>
      </p:sp>
      <p:sp>
        <p:nvSpPr>
          <p:cNvPr id="29" name="Goal rule"/>
          <p:cNvSpPr/>
          <p:nvPr/>
        </p:nvSpPr>
        <p:spPr>
          <a:xfrm>
            <a:off x="7589520" y="5257800"/>
            <a:ext cx="1005840" cy="36576"/>
          </a:xfrm>
          <a:prstGeom prst="rect">
            <a:avLst/>
          </a:prstGeom>
          <a:solidFill>
            <a:schemeClr val="accent2"/>
          </a:solidFill>
          <a:ln w="12700">
            <a:solidFill>
              <a:schemeClr val="accent2"/>
            </a:solidFill>
            <a:prstDash val="solid"/>
          </a:ln>
        </p:spPr>
      </p:sp>
      <p:sp>
        <p:nvSpPr>
          <p:cNvPr id="30" name="Text 24"/>
          <p:cNvSpPr txBox="1"/>
          <p:nvPr/>
        </p:nvSpPr>
        <p:spPr>
          <a:xfrm>
            <a:off x="7589520" y="5394960"/>
            <a:ext cx="3840480" cy="457200"/>
          </a:xfrm>
          <a:prstGeom prst="rect">
            <a:avLst/>
          </a:prstGeom>
          <a:noFill/>
          <a:ln/>
        </p:spPr>
        <p:txBody>
          <a:bodyPr wrap="square" lIns="0" tIns="0" rIns="0" bIns="0" rtlCol="0" anchor="t"/>
          <a:lstStyle/>
          <a:p>
            <a:pPr marL="0" indent="0">
              <a:buNone/>
            </a:pPr>
            <a:r>
              <a:rPr lang="en-US" sz="1400" i="1">
                <a:solidFill>
                  <a:schemeClr val="bg2"/>
                </a:solidFill>
              </a:rPr>
              <a:t>Goal: one-hot output, no software needed</a:t>
            </a:r>
            <a:endParaRPr lang="en-US" sz="1400"/>
          </a:p>
        </p:txBody>
      </p:sp>
      <p:sp>
        <p:nvSpPr>
          <p:cNvPr id="31" name="Slide Number Placeholder 0"/>
          <p:cNvSpPr>
            <a:spLocks noGrp="1"/>
          </p:cNvSpPr>
          <p:nvPr>
            <p:ph type="sldNum" sz="quarter" idx="4294967295"/>
          </p:nvPr>
        </p:nvSpPr>
        <p:spPr>
          <a:xfrm>
            <a:off x="11201400" y="644652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ctr"/>
          <a:lstStyle/>
          <a:p>
            <a:pPr marL="0" indent="0">
              <a:buNone/>
            </a:pPr>
            <a:r>
              <a:rPr lang="en-US" sz="1200" b="1" kern="0" spc="300">
                <a:solidFill>
                  <a:schemeClr val="accent1"/>
                </a:solidFill>
              </a:rPr>
              <a:t>DESIGN &amp; METHODOLOGY</a:t>
            </a:r>
            <a:endParaRPr lang="en-US" sz="1200"/>
          </a:p>
        </p:txBody>
      </p:sp>
      <p:sp>
        <p:nvSpPr>
          <p:cNvPr id="3" name="Text 0"/>
          <p:cNvSpPr>
            <a:spLocks noGrp="1"/>
          </p:cNvSpPr>
          <p:nvPr>
            <p:ph type="title" idx="100" hasCustomPrompt="1"/>
          </p:nvPr>
        </p:nvSpPr>
        <p:spPr>
          <a:xfrm>
            <a:off x="548640" y="777240"/>
            <a:ext cx="11064240" cy="685800"/>
          </a:xfrm>
          <a:prstGeom prst="rect">
            <a:avLst/>
          </a:prstGeom>
          <a:noFill/>
          <a:ln/>
        </p:spPr>
        <p:txBody>
          <a:bodyPr wrap="square" lIns="0" tIns="0" rIns="0" bIns="0" rtlCol="0" anchor="ctr"/>
          <a:lstStyle/>
          <a:p>
            <a:pPr marL="0" indent="0" algn="l">
              <a:buNone/>
            </a:pPr>
            <a:r>
              <a:rPr lang="en-US" sz="3000" b="1">
                <a:solidFill>
                  <a:schemeClr val="tx1"/>
                </a:solidFill>
              </a:rPr>
              <a:t>From Truth Table to Gate-Level Circuit</a:t>
            </a:r>
            <a:endParaRPr lang="en-US" sz="3000"/>
          </a:p>
        </p:txBody>
      </p:sp>
      <p:sp>
        <p:nvSpPr>
          <p:cNvPr id="4" name="Text 2"/>
          <p:cNvSpPr txBox="1"/>
          <p:nvPr/>
        </p:nvSpPr>
        <p:spPr>
          <a:xfrm>
            <a:off x="411480" y="1600200"/>
            <a:ext cx="3657600" cy="274320"/>
          </a:xfrm>
          <a:prstGeom prst="rect">
            <a:avLst/>
          </a:prstGeom>
          <a:noFill/>
          <a:ln/>
        </p:spPr>
        <p:txBody>
          <a:bodyPr wrap="square" lIns="0" tIns="0" rIns="0" bIns="0" rtlCol="0" anchor="ctr"/>
          <a:lstStyle/>
          <a:p>
            <a:pPr marL="0" indent="0">
              <a:buNone/>
            </a:pPr>
            <a:r>
              <a:rPr lang="en-US" sz="1400" b="1">
                <a:solidFill>
                  <a:schemeClr val="tx2"/>
                </a:solidFill>
              </a:rPr>
              <a:t>Truth Table</a:t>
            </a:r>
            <a:endParaRPr lang="en-US" sz="1400"/>
          </a:p>
        </p:txBody>
      </p:sp>
      <p:graphicFrame>
        <p:nvGraphicFramePr>
          <p:cNvPr id="5" name="Truth table"/>
          <p:cNvGraphicFramePr>
            <a:graphicFrameLocks noGrp="1"/>
          </p:cNvGraphicFramePr>
          <p:nvPr>
            <p:extLst>
              <p:ext uri="{D42A27DB-BD31-4B8C-83A1-F6EECF244321}">
                <p14:modId xmlns:p14="http://schemas.microsoft.com/office/powerpoint/2010/main" val="1579011935"/>
              </p:ext>
            </p:extLst>
          </p:nvPr>
        </p:nvGraphicFramePr>
        <p:xfrm>
          <a:off x="411480" y="1920240"/>
          <a:ext cx="5394960" cy="3963924"/>
        </p:xfrm>
        <a:graphic>
          <a:graphicData uri="http://schemas.openxmlformats.org/drawingml/2006/table">
            <a:tbl>
              <a:tblPr/>
              <a:tblGrid>
                <a:gridCol w="7315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tblGrid>
              <a:tr h="233172">
                <a:tc>
                  <a:txBody>
                    <a:bodyPr/>
                    <a:lstStyle/>
                    <a:p>
                      <a:pPr marL="0" indent="0" algn="ctr">
                        <a:buNone/>
                      </a:pPr>
                      <a:r>
                        <a:rPr lang="en-US" sz="1200" b="1">
                          <a:solidFill>
                            <a:srgbClr val="FFFFFF"/>
                          </a:solidFill>
                        </a:rPr>
                        <a:t>A1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21295C"/>
                    </a:solidFill>
                  </a:tcPr>
                </a:tc>
                <a:tc>
                  <a:txBody>
                    <a:bodyPr/>
                    <a:lstStyle/>
                    <a:p>
                      <a:pPr marL="0" indent="0" algn="ctr">
                        <a:buNone/>
                      </a:pPr>
                      <a:r>
                        <a:rPr lang="en-US" sz="1200" b="1">
                          <a:solidFill>
                            <a:srgbClr val="FFFFFF"/>
                          </a:solidFill>
                        </a:rPr>
                        <a:t>A0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21295C"/>
                    </a:solidFill>
                  </a:tcPr>
                </a:tc>
                <a:tc>
                  <a:txBody>
                    <a:bodyPr/>
                    <a:lstStyle/>
                    <a:p>
                      <a:pPr marL="0" indent="0" algn="ctr">
                        <a:buNone/>
                      </a:pPr>
                      <a:r>
                        <a:rPr lang="en-US" sz="1200" b="1">
                          <a:solidFill>
                            <a:srgbClr val="FFFFFF"/>
                          </a:solidFill>
                        </a:rPr>
                        <a:t>B1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21295C"/>
                    </a:solidFill>
                  </a:tcPr>
                </a:tc>
                <a:tc>
                  <a:txBody>
                    <a:bodyPr/>
                    <a:lstStyle/>
                    <a:p>
                      <a:pPr marL="0" indent="0" algn="ctr">
                        <a:buNone/>
                      </a:pPr>
                      <a:r>
                        <a:rPr lang="en-US" sz="1200" b="1">
                          <a:solidFill>
                            <a:srgbClr val="FFFFFF"/>
                          </a:solidFill>
                        </a:rPr>
                        <a:t>B0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21295C"/>
                    </a:solidFill>
                  </a:tcPr>
                </a:tc>
                <a:tc>
                  <a:txBody>
                    <a:bodyPr/>
                    <a:lstStyle/>
                    <a:p>
                      <a:pPr marL="0" indent="0" algn="ctr">
                        <a:buNone/>
                      </a:pPr>
                      <a:r>
                        <a:rPr lang="en-US" sz="1200" b="1">
                          <a:solidFill>
                            <a:srgbClr val="FFFFFF"/>
                          </a:solidFill>
                        </a:rPr>
                        <a:t>A&gt;B</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1F7A4D"/>
                    </a:solidFill>
                  </a:tcPr>
                </a:tc>
                <a:tc>
                  <a:txBody>
                    <a:bodyPr/>
                    <a:lstStyle/>
                    <a:p>
                      <a:pPr marL="0" indent="0" algn="ctr">
                        <a:buNone/>
                      </a:pPr>
                      <a:r>
                        <a:rPr lang="en-US" sz="1200" b="1">
                          <a:solidFill>
                            <a:srgbClr val="FFFFFF"/>
                          </a:solidFill>
                        </a:rPr>
                        <a:t>A=B</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B26A00"/>
                    </a:solidFill>
                  </a:tcPr>
                </a:tc>
                <a:tc>
                  <a:txBody>
                    <a:bodyPr/>
                    <a:lstStyle/>
                    <a:p>
                      <a:pPr marL="0" indent="0" algn="ctr">
                        <a:buNone/>
                      </a:pPr>
                      <a:r>
                        <a:rPr lang="en-US" sz="1200" b="1">
                          <a:solidFill>
                            <a:srgbClr val="FFFFFF"/>
                          </a:solidFill>
                        </a:rPr>
                        <a:t>A&lt;B</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B0343E"/>
                    </a:solidFill>
                  </a:tcPr>
                </a:tc>
                <a:extLst>
                  <a:ext uri="{0D108BD9-81ED-4DB2-BD59-A6C34878D82A}">
                    <a16:rowId xmlns:a16="http://schemas.microsoft.com/office/drawing/2014/main" val="10000"/>
                  </a:ext>
                </a:extLst>
              </a:tr>
              <a:tr h="233172">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b="1">
                          <a:solidFill>
                            <a:srgbClr val="92400E"/>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EF3C7"/>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3172">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b="1">
                          <a:solidFill>
                            <a:srgbClr val="991B1B"/>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EE2E2"/>
                    </a:solidFill>
                  </a:tcPr>
                </a:tc>
                <a:extLst>
                  <a:ext uri="{0D108BD9-81ED-4DB2-BD59-A6C34878D82A}">
                    <a16:rowId xmlns:a16="http://schemas.microsoft.com/office/drawing/2014/main" val="10002"/>
                  </a:ext>
                </a:extLst>
              </a:tr>
              <a:tr h="233172">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b="1">
                          <a:solidFill>
                            <a:srgbClr val="991B1B"/>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EE2E2"/>
                    </a:solidFill>
                  </a:tcPr>
                </a:tc>
                <a:extLst>
                  <a:ext uri="{0D108BD9-81ED-4DB2-BD59-A6C34878D82A}">
                    <a16:rowId xmlns:a16="http://schemas.microsoft.com/office/drawing/2014/main" val="10003"/>
                  </a:ext>
                </a:extLst>
              </a:tr>
              <a:tr h="233172">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b="1">
                          <a:solidFill>
                            <a:srgbClr val="991B1B"/>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EE2E2"/>
                    </a:solidFill>
                  </a:tcPr>
                </a:tc>
                <a:extLst>
                  <a:ext uri="{0D108BD9-81ED-4DB2-BD59-A6C34878D82A}">
                    <a16:rowId xmlns:a16="http://schemas.microsoft.com/office/drawing/2014/main" val="10004"/>
                  </a:ext>
                </a:extLst>
              </a:tr>
              <a:tr h="233172">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b="1">
                          <a:solidFill>
                            <a:srgbClr val="065F4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D1FAE5"/>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33172">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b="1">
                          <a:solidFill>
                            <a:srgbClr val="92400E"/>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EF3C7"/>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33172">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b="1">
                          <a:solidFill>
                            <a:srgbClr val="991B1B"/>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EE2E2"/>
                    </a:solidFill>
                  </a:tcPr>
                </a:tc>
                <a:extLst>
                  <a:ext uri="{0D108BD9-81ED-4DB2-BD59-A6C34878D82A}">
                    <a16:rowId xmlns:a16="http://schemas.microsoft.com/office/drawing/2014/main" val="10007"/>
                  </a:ext>
                </a:extLst>
              </a:tr>
              <a:tr h="233172">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b="1">
                          <a:solidFill>
                            <a:srgbClr val="991B1B"/>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EE2E2"/>
                    </a:solidFill>
                  </a:tcPr>
                </a:tc>
                <a:extLst>
                  <a:ext uri="{0D108BD9-81ED-4DB2-BD59-A6C34878D82A}">
                    <a16:rowId xmlns:a16="http://schemas.microsoft.com/office/drawing/2014/main" val="10008"/>
                  </a:ext>
                </a:extLst>
              </a:tr>
              <a:tr h="233172">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b="1">
                          <a:solidFill>
                            <a:srgbClr val="065F4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D1FAE5"/>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33172">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b="1">
                          <a:solidFill>
                            <a:srgbClr val="065F4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D1FAE5"/>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33172">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b="1">
                          <a:solidFill>
                            <a:srgbClr val="92400E"/>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EF3C7"/>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33172">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b="1">
                          <a:solidFill>
                            <a:srgbClr val="991B1B"/>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EE2E2"/>
                    </a:solidFill>
                  </a:tcPr>
                </a:tc>
                <a:extLst>
                  <a:ext uri="{0D108BD9-81ED-4DB2-BD59-A6C34878D82A}">
                    <a16:rowId xmlns:a16="http://schemas.microsoft.com/office/drawing/2014/main" val="10012"/>
                  </a:ext>
                </a:extLst>
              </a:tr>
              <a:tr h="233172">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b="1">
                          <a:solidFill>
                            <a:srgbClr val="065F4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D1FAE5"/>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33172">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b="1">
                          <a:solidFill>
                            <a:srgbClr val="065F4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D1FAE5"/>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33172">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b="1">
                          <a:solidFill>
                            <a:srgbClr val="065F4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D1FAE5"/>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233172">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1A2226"/>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tc>
                  <a:txBody>
                    <a:bodyPr/>
                    <a:lstStyle/>
                    <a:p>
                      <a:pPr marL="0" indent="0" algn="ctr">
                        <a:buNone/>
                      </a:pPr>
                      <a:r>
                        <a:rPr lang="en-US" sz="1200" b="1">
                          <a:solidFill>
                            <a:srgbClr val="92400E"/>
                          </a:solidFill>
                        </a:rPr>
                        <a:t>1</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EF3C7"/>
                    </a:solidFill>
                  </a:tcPr>
                </a:tc>
                <a:tc>
                  <a:txBody>
                    <a:bodyPr/>
                    <a:lstStyle/>
                    <a:p>
                      <a:pPr marL="0" indent="0" algn="ctr">
                        <a:buNone/>
                      </a:pPr>
                      <a:r>
                        <a:rPr lang="en-US" sz="1200">
                          <a:solidFill>
                            <a:srgbClr val="5A6B75"/>
                          </a:solidFill>
                        </a:rPr>
                        <a:t>0</a:t>
                      </a:r>
                      <a:endParaRPr lang="en-US" sz="1200"/>
                    </a:p>
                  </a:txBody>
                  <a:tcPr marL="27432" marR="27432" marT="0" marB="0" anchor="ctr">
                    <a:lnL w="6350" cap="flat" cmpd="sng" algn="ctr">
                      <a:solidFill>
                        <a:srgbClr val="C9D9DE"/>
                      </a:solidFill>
                      <a:prstDash val="solid"/>
                      <a:round/>
                      <a:headEnd type="none" w="med" len="med"/>
                      <a:tailEnd type="none" w="med" len="med"/>
                    </a:lnL>
                    <a:lnR w="6350" cap="flat" cmpd="sng" algn="ctr">
                      <a:solidFill>
                        <a:srgbClr val="C9D9DE"/>
                      </a:solidFill>
                      <a:prstDash val="solid"/>
                      <a:round/>
                      <a:headEnd type="none" w="med" len="med"/>
                      <a:tailEnd type="none" w="med" len="med"/>
                    </a:lnR>
                    <a:lnT w="6350" cap="flat" cmpd="sng" algn="ctr">
                      <a:solidFill>
                        <a:srgbClr val="C9D9DE"/>
                      </a:solidFill>
                      <a:prstDash val="solid"/>
                      <a:round/>
                      <a:headEnd type="none" w="med" len="med"/>
                      <a:tailEnd type="none" w="med" len="med"/>
                    </a:lnT>
                    <a:lnB w="6350" cap="flat" cmpd="sng" algn="ctr">
                      <a:solidFill>
                        <a:srgbClr val="C9D9DE"/>
                      </a:solidFill>
                      <a:prstDash val="solid"/>
                      <a:round/>
                      <a:headEnd type="none" w="med" len="med"/>
                      <a:tailEnd type="none" w="med" len="med"/>
                    </a:lnB>
                    <a:solidFill>
                      <a:srgbClr val="FFFFFF"/>
                    </a:solidFill>
                  </a:tcPr>
                </a:tc>
                <a:extLst>
                  <a:ext uri="{0D108BD9-81ED-4DB2-BD59-A6C34878D82A}">
                    <a16:rowId xmlns:a16="http://schemas.microsoft.com/office/drawing/2014/main" val="10016"/>
                  </a:ext>
                </a:extLst>
              </a:tr>
            </a:tbl>
          </a:graphicData>
        </a:graphic>
      </p:graphicFrame>
      <p:sp>
        <p:nvSpPr>
          <p:cNvPr id="6" name="Circuit card"/>
          <p:cNvSpPr/>
          <p:nvPr/>
        </p:nvSpPr>
        <p:spPr>
          <a:xfrm>
            <a:off x="5989320" y="1536192"/>
            <a:ext cx="5669280" cy="4663440"/>
          </a:xfrm>
          <a:prstGeom prst="roundRect">
            <a:avLst>
              <a:gd name="adj" fmla="val 1961"/>
            </a:avLst>
          </a:prstGeom>
          <a:solidFill>
            <a:schemeClr val="bg2"/>
          </a:solidFill>
          <a:ln w="6350">
            <a:solidFill>
              <a:schemeClr val="bg2"/>
            </a:solidFill>
            <a:prstDash val="solid"/>
          </a:ln>
        </p:spPr>
      </p:sp>
      <p:sp>
        <p:nvSpPr>
          <p:cNvPr id="7" name="Text 4"/>
          <p:cNvSpPr txBox="1"/>
          <p:nvPr/>
        </p:nvSpPr>
        <p:spPr>
          <a:xfrm>
            <a:off x="6263640" y="1691640"/>
            <a:ext cx="4572000" cy="274320"/>
          </a:xfrm>
          <a:prstGeom prst="rect">
            <a:avLst/>
          </a:prstGeom>
          <a:noFill/>
          <a:ln/>
        </p:spPr>
        <p:txBody>
          <a:bodyPr wrap="square" lIns="0" tIns="0" rIns="0" bIns="0" rtlCol="0" anchor="ctr"/>
          <a:lstStyle/>
          <a:p>
            <a:pPr marL="0" indent="0">
              <a:buNone/>
            </a:pPr>
            <a:r>
              <a:rPr lang="en-US" sz="1400" b="1">
                <a:solidFill>
                  <a:schemeClr val="tx2"/>
                </a:solidFill>
              </a:rPr>
              <a:t>Gate-Level Circuit</a:t>
            </a:r>
            <a:endParaRPr lang="en-US" sz="1400"/>
          </a:p>
        </p:txBody>
      </p:sp>
      <p:sp>
        <p:nvSpPr>
          <p:cNvPr id="25" name="Slide Number Placeholder 0"/>
          <p:cNvSpPr>
            <a:spLocks noGrp="1"/>
          </p:cNvSpPr>
          <p:nvPr>
            <p:ph type="sldNum" sz="quarter" idx="4294967295"/>
          </p:nvPr>
        </p:nvSpPr>
        <p:spPr>
          <a:xfrm>
            <a:off x="11201400" y="644652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a:t>
            </a:fld>
            <a:endParaRPr lang="en-US"/>
          </a:p>
        </p:txBody>
      </p:sp>
      <p:pic>
        <p:nvPicPr>
          <p:cNvPr id="11" name="Picture 10">
            <a:extLst>
              <a:ext uri="{FF2B5EF4-FFF2-40B4-BE49-F238E27FC236}">
                <a16:creationId xmlns:a16="http://schemas.microsoft.com/office/drawing/2014/main" id="{35CF0E65-A2E2-5C74-03C6-96D93C4BD879}"/>
              </a:ext>
            </a:extLst>
          </p:cNvPr>
          <p:cNvPicPr>
            <a:picLocks noChangeAspect="1"/>
          </p:cNvPicPr>
          <p:nvPr/>
        </p:nvPicPr>
        <p:blipFill>
          <a:blip r:embed="rId3"/>
          <a:stretch>
            <a:fillRect/>
          </a:stretch>
        </p:blipFill>
        <p:spPr>
          <a:xfrm>
            <a:off x="6264503" y="1964601"/>
            <a:ext cx="4590594" cy="2478884"/>
          </a:xfrm>
          <a:prstGeom prst="rect">
            <a:avLst/>
          </a:prstGeom>
        </p:spPr>
      </p:pic>
      <p:sp>
        <p:nvSpPr>
          <p:cNvPr id="10" name="TextBox 9">
            <a:extLst>
              <a:ext uri="{FF2B5EF4-FFF2-40B4-BE49-F238E27FC236}">
                <a16:creationId xmlns:a16="http://schemas.microsoft.com/office/drawing/2014/main" id="{BC3C411A-B933-09AE-8EC5-E5F4156AE747}"/>
              </a:ext>
            </a:extLst>
          </p:cNvPr>
          <p:cNvSpPr txBox="1"/>
          <p:nvPr/>
        </p:nvSpPr>
        <p:spPr>
          <a:xfrm rot="10800000" flipV="1">
            <a:off x="6095999" y="4295797"/>
            <a:ext cx="475890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Google Sans Text"/>
                <a:ea typeface="Google Sans Text"/>
                <a:cs typeface="Google Sans Text"/>
              </a:rPr>
              <a:t>(A = B) = (x1 AND X0)</a:t>
            </a:r>
          </a:p>
          <a:p>
            <a:r>
              <a:rPr lang="en-US">
                <a:latin typeface="Google Sans Text"/>
              </a:rPr>
              <a:t>(A&gt;B)  = (A1 AND NOT B1) 0R ( X1 AND A0 AND NOT B0)</a:t>
            </a:r>
            <a:endParaRPr lang="en-US" b="1">
              <a:latin typeface="Google Sans Text"/>
            </a:endParaRPr>
          </a:p>
          <a:p>
            <a:r>
              <a:rPr lang="en-US">
                <a:latin typeface="Google Sans Text"/>
                <a:ea typeface="Calibri"/>
                <a:cs typeface="Calibri"/>
              </a:rPr>
              <a:t>(A&lt;B) =  ( NOT A1 AND B1) 0R ( X1 AND NOT A0 AND B0)</a:t>
            </a:r>
            <a:endParaRPr lang="en-US">
              <a:latin typeface="Calibri"/>
              <a:ea typeface="Calibri"/>
              <a:cs typeface="Calibri"/>
            </a:endParaRPr>
          </a:p>
          <a:p>
            <a:r>
              <a:rPr lang="en-US">
                <a:latin typeface="Google Sans Text"/>
                <a:ea typeface="Calibri"/>
                <a:cs typeface="Calibri"/>
              </a:rPr>
              <a:t>GATES USED : AND,OR,NOT </a:t>
            </a:r>
            <a:endParaRPr lang="en-US">
              <a:ea typeface="Calibri"/>
              <a:cs typeface="Calibri"/>
            </a:endParaRPr>
          </a:p>
          <a:p>
            <a:pPr algn="ctr"/>
            <a:endParaRPr lang="en-US">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ctr"/>
          <a:lstStyle/>
          <a:p>
            <a:pPr marL="0" indent="0">
              <a:buNone/>
            </a:pPr>
            <a:r>
              <a:rPr lang="en-US" sz="1200" b="1" kern="0" spc="300">
                <a:solidFill>
                  <a:schemeClr val="accent1"/>
                </a:solidFill>
              </a:rPr>
              <a:t>SIMULATION &amp; DEMO</a:t>
            </a:r>
            <a:endParaRPr lang="en-US" sz="1200"/>
          </a:p>
        </p:txBody>
      </p:sp>
      <p:sp>
        <p:nvSpPr>
          <p:cNvPr id="3" name="Text 0"/>
          <p:cNvSpPr>
            <a:spLocks noGrp="1"/>
          </p:cNvSpPr>
          <p:nvPr>
            <p:ph type="title" idx="100" hasCustomPrompt="1"/>
          </p:nvPr>
        </p:nvSpPr>
        <p:spPr>
          <a:xfrm>
            <a:off x="548640" y="777240"/>
            <a:ext cx="11064240" cy="685800"/>
          </a:xfrm>
          <a:prstGeom prst="rect">
            <a:avLst/>
          </a:prstGeom>
          <a:noFill/>
          <a:ln/>
        </p:spPr>
        <p:txBody>
          <a:bodyPr wrap="square" lIns="0" tIns="0" rIns="0" bIns="0" rtlCol="0" anchor="ctr"/>
          <a:lstStyle/>
          <a:p>
            <a:pPr marL="0" indent="0" algn="l">
              <a:buNone/>
            </a:pPr>
            <a:r>
              <a:rPr lang="en-US" sz="3000" b="1">
                <a:solidFill>
                  <a:schemeClr val="tx1"/>
                </a:solidFill>
              </a:rPr>
              <a:t>Simulating the Circuit in Verilog</a:t>
            </a:r>
            <a:endParaRPr lang="en-US" sz="3000"/>
          </a:p>
        </p:txBody>
      </p:sp>
      <p:sp>
        <p:nvSpPr>
          <p:cNvPr id="4" name="Step card 1"/>
          <p:cNvSpPr/>
          <p:nvPr/>
        </p:nvSpPr>
        <p:spPr>
          <a:xfrm>
            <a:off x="548640" y="1600200"/>
            <a:ext cx="2606040" cy="2240280"/>
          </a:xfrm>
          <a:prstGeom prst="roundRect">
            <a:avLst>
              <a:gd name="adj" fmla="val 4082"/>
            </a:avLst>
          </a:prstGeom>
          <a:solidFill>
            <a:schemeClr val="bg2"/>
          </a:solidFill>
          <a:ln w="6350">
            <a:solidFill>
              <a:schemeClr val="bg2"/>
            </a:solidFill>
            <a:prstDash val="solid"/>
          </a:ln>
        </p:spPr>
      </p:sp>
      <p:sp>
        <p:nvSpPr>
          <p:cNvPr id="5" name="Step circle 1"/>
          <p:cNvSpPr/>
          <p:nvPr/>
        </p:nvSpPr>
        <p:spPr>
          <a:xfrm>
            <a:off x="1577340" y="1737360"/>
            <a:ext cx="548640" cy="548640"/>
          </a:xfrm>
          <a:prstGeom prst="ellipse">
            <a:avLst/>
          </a:prstGeom>
          <a:solidFill>
            <a:schemeClr val="accent1"/>
          </a:solidFill>
          <a:ln w="12700">
            <a:solidFill>
              <a:schemeClr val="accent1"/>
            </a:solidFill>
            <a:prstDash val="solid"/>
          </a:ln>
        </p:spPr>
      </p:sp>
      <p:sp>
        <p:nvSpPr>
          <p:cNvPr id="6" name="Text 4"/>
          <p:cNvSpPr txBox="1"/>
          <p:nvPr/>
        </p:nvSpPr>
        <p:spPr>
          <a:xfrm>
            <a:off x="1577340" y="1737360"/>
            <a:ext cx="548640" cy="548640"/>
          </a:xfrm>
          <a:prstGeom prst="rect">
            <a:avLst/>
          </a:prstGeom>
          <a:noFill/>
          <a:ln/>
        </p:spPr>
        <p:txBody>
          <a:bodyPr wrap="square" lIns="0" tIns="0" rIns="0" bIns="0" rtlCol="0" anchor="ctr"/>
          <a:lstStyle/>
          <a:p>
            <a:pPr marL="0" indent="0" algn="ctr">
              <a:buNone/>
            </a:pPr>
            <a:r>
              <a:rPr lang="en-US" sz="1800" b="1">
                <a:solidFill>
                  <a:schemeClr val="bg1"/>
                </a:solidFill>
              </a:rPr>
              <a:t>1</a:t>
            </a:r>
            <a:endParaRPr lang="en-US" sz="1800"/>
          </a:p>
        </p:txBody>
      </p:sp>
      <p:sp>
        <p:nvSpPr>
          <p:cNvPr id="7" name="Text 5"/>
          <p:cNvSpPr txBox="1"/>
          <p:nvPr/>
        </p:nvSpPr>
        <p:spPr>
          <a:xfrm>
            <a:off x="548640" y="2377440"/>
            <a:ext cx="2606040" cy="320040"/>
          </a:xfrm>
          <a:prstGeom prst="rect">
            <a:avLst/>
          </a:prstGeom>
          <a:noFill/>
          <a:ln/>
        </p:spPr>
        <p:txBody>
          <a:bodyPr wrap="square" lIns="0" tIns="0" rIns="0" bIns="0" rtlCol="0" anchor="ctr"/>
          <a:lstStyle/>
          <a:p>
            <a:pPr marL="0" indent="0" algn="ctr">
              <a:buNone/>
            </a:pPr>
            <a:r>
              <a:rPr lang="en-US" sz="1400" b="1">
                <a:solidFill>
                  <a:schemeClr val="tx2"/>
                </a:solidFill>
              </a:rPr>
              <a:t>Write the Design</a:t>
            </a:r>
            <a:endParaRPr lang="en-US" sz="1400"/>
          </a:p>
        </p:txBody>
      </p:sp>
      <p:sp>
        <p:nvSpPr>
          <p:cNvPr id="8" name="Text 6"/>
          <p:cNvSpPr txBox="1"/>
          <p:nvPr/>
        </p:nvSpPr>
        <p:spPr>
          <a:xfrm>
            <a:off x="704088" y="2743200"/>
            <a:ext cx="2295144" cy="1005840"/>
          </a:xfrm>
          <a:prstGeom prst="rect">
            <a:avLst/>
          </a:prstGeom>
          <a:noFill/>
          <a:ln/>
        </p:spPr>
        <p:txBody>
          <a:bodyPr wrap="square" lIns="0" tIns="0" rIns="0" bIns="0" rtlCol="0" anchor="t"/>
          <a:lstStyle/>
          <a:p>
            <a:pPr marL="0" indent="0">
              <a:buNone/>
            </a:pPr>
            <a:r>
              <a:rPr lang="en-US" sz="1400">
                <a:solidFill>
                  <a:schemeClr val="tx1"/>
                </a:solidFill>
              </a:rPr>
              <a:t>Code comparator_2bit.v with the XNOR, AND, OR and NOR gate equations.</a:t>
            </a:r>
            <a:endParaRPr lang="en-US" sz="1400"/>
          </a:p>
        </p:txBody>
      </p:sp>
      <p:sp>
        <p:nvSpPr>
          <p:cNvPr id="9" name="Arrow 1"/>
          <p:cNvSpPr/>
          <p:nvPr/>
        </p:nvSpPr>
        <p:spPr>
          <a:xfrm rot="5400000">
            <a:off x="3182112" y="2606040"/>
            <a:ext cx="201168" cy="228600"/>
          </a:xfrm>
          <a:prstGeom prst="triangle">
            <a:avLst/>
          </a:prstGeom>
          <a:solidFill>
            <a:schemeClr val="accent2"/>
          </a:solidFill>
          <a:ln w="12700">
            <a:solidFill>
              <a:schemeClr val="accent2"/>
            </a:solidFill>
            <a:prstDash val="solid"/>
          </a:ln>
        </p:spPr>
      </p:sp>
      <p:sp>
        <p:nvSpPr>
          <p:cNvPr id="10" name="Step card 2"/>
          <p:cNvSpPr/>
          <p:nvPr/>
        </p:nvSpPr>
        <p:spPr>
          <a:xfrm>
            <a:off x="3406140" y="1600200"/>
            <a:ext cx="2606040" cy="2240280"/>
          </a:xfrm>
          <a:prstGeom prst="roundRect">
            <a:avLst>
              <a:gd name="adj" fmla="val 4082"/>
            </a:avLst>
          </a:prstGeom>
          <a:solidFill>
            <a:schemeClr val="bg2"/>
          </a:solidFill>
          <a:ln w="6350">
            <a:solidFill>
              <a:schemeClr val="bg2"/>
            </a:solidFill>
            <a:prstDash val="solid"/>
          </a:ln>
        </p:spPr>
      </p:sp>
      <p:sp>
        <p:nvSpPr>
          <p:cNvPr id="11" name="Step circle 2"/>
          <p:cNvSpPr/>
          <p:nvPr/>
        </p:nvSpPr>
        <p:spPr>
          <a:xfrm>
            <a:off x="4434840" y="1737360"/>
            <a:ext cx="548640" cy="548640"/>
          </a:xfrm>
          <a:prstGeom prst="ellipse">
            <a:avLst/>
          </a:prstGeom>
          <a:solidFill>
            <a:schemeClr val="accent1"/>
          </a:solidFill>
          <a:ln w="12700">
            <a:solidFill>
              <a:schemeClr val="accent1"/>
            </a:solidFill>
            <a:prstDash val="solid"/>
          </a:ln>
        </p:spPr>
      </p:sp>
      <p:sp>
        <p:nvSpPr>
          <p:cNvPr id="12" name="Text 10"/>
          <p:cNvSpPr txBox="1"/>
          <p:nvPr/>
        </p:nvSpPr>
        <p:spPr>
          <a:xfrm>
            <a:off x="4434840" y="1737360"/>
            <a:ext cx="548640" cy="548640"/>
          </a:xfrm>
          <a:prstGeom prst="rect">
            <a:avLst/>
          </a:prstGeom>
          <a:noFill/>
          <a:ln/>
        </p:spPr>
        <p:txBody>
          <a:bodyPr wrap="square" lIns="0" tIns="0" rIns="0" bIns="0" rtlCol="0" anchor="ctr"/>
          <a:lstStyle/>
          <a:p>
            <a:pPr marL="0" indent="0" algn="ctr">
              <a:buNone/>
            </a:pPr>
            <a:r>
              <a:rPr lang="en-US" sz="1800" b="1">
                <a:solidFill>
                  <a:schemeClr val="bg1"/>
                </a:solidFill>
              </a:rPr>
              <a:t>2</a:t>
            </a:r>
            <a:endParaRPr lang="en-US" sz="1800"/>
          </a:p>
        </p:txBody>
      </p:sp>
      <p:sp>
        <p:nvSpPr>
          <p:cNvPr id="13" name="Text 11"/>
          <p:cNvSpPr txBox="1"/>
          <p:nvPr/>
        </p:nvSpPr>
        <p:spPr>
          <a:xfrm>
            <a:off x="3406140" y="2377440"/>
            <a:ext cx="2606040" cy="320040"/>
          </a:xfrm>
          <a:prstGeom prst="rect">
            <a:avLst/>
          </a:prstGeom>
          <a:noFill/>
          <a:ln/>
        </p:spPr>
        <p:txBody>
          <a:bodyPr wrap="square" lIns="0" tIns="0" rIns="0" bIns="0" rtlCol="0" anchor="ctr"/>
          <a:lstStyle/>
          <a:p>
            <a:pPr marL="0" indent="0" algn="ctr">
              <a:buNone/>
            </a:pPr>
            <a:r>
              <a:rPr lang="en-US" sz="1400" b="1">
                <a:solidFill>
                  <a:schemeClr val="tx2"/>
                </a:solidFill>
              </a:rPr>
              <a:t>Write the Testbench</a:t>
            </a:r>
            <a:endParaRPr lang="en-US" sz="1400"/>
          </a:p>
        </p:txBody>
      </p:sp>
      <p:sp>
        <p:nvSpPr>
          <p:cNvPr id="14" name="Text 12"/>
          <p:cNvSpPr txBox="1"/>
          <p:nvPr/>
        </p:nvSpPr>
        <p:spPr>
          <a:xfrm>
            <a:off x="3561588" y="2743200"/>
            <a:ext cx="2295144" cy="1005840"/>
          </a:xfrm>
          <a:prstGeom prst="rect">
            <a:avLst/>
          </a:prstGeom>
          <a:noFill/>
          <a:ln/>
        </p:spPr>
        <p:txBody>
          <a:bodyPr wrap="square" lIns="0" tIns="0" rIns="0" bIns="0" rtlCol="0" anchor="t"/>
          <a:lstStyle/>
          <a:p>
            <a:pPr marL="0" indent="0">
              <a:buNone/>
            </a:pPr>
            <a:r>
              <a:rPr lang="en-US" sz="1400">
                <a:solidFill>
                  <a:schemeClr val="tx1"/>
                </a:solidFill>
              </a:rPr>
              <a:t>Step A and B through all 16 combinations, 10 ns apart, and self-check.</a:t>
            </a:r>
            <a:endParaRPr lang="en-US" sz="1400"/>
          </a:p>
        </p:txBody>
      </p:sp>
      <p:sp>
        <p:nvSpPr>
          <p:cNvPr id="15" name="Arrow 2"/>
          <p:cNvSpPr/>
          <p:nvPr/>
        </p:nvSpPr>
        <p:spPr>
          <a:xfrm rot="5400000">
            <a:off x="6039612" y="2606040"/>
            <a:ext cx="201168" cy="228600"/>
          </a:xfrm>
          <a:prstGeom prst="triangle">
            <a:avLst/>
          </a:prstGeom>
          <a:solidFill>
            <a:schemeClr val="accent2"/>
          </a:solidFill>
          <a:ln w="12700">
            <a:solidFill>
              <a:schemeClr val="accent2"/>
            </a:solidFill>
            <a:prstDash val="solid"/>
          </a:ln>
        </p:spPr>
      </p:sp>
      <p:sp>
        <p:nvSpPr>
          <p:cNvPr id="16" name="Step card 3"/>
          <p:cNvSpPr/>
          <p:nvPr/>
        </p:nvSpPr>
        <p:spPr>
          <a:xfrm>
            <a:off x="6263640" y="1600200"/>
            <a:ext cx="2606040" cy="2240280"/>
          </a:xfrm>
          <a:prstGeom prst="roundRect">
            <a:avLst>
              <a:gd name="adj" fmla="val 4082"/>
            </a:avLst>
          </a:prstGeom>
          <a:solidFill>
            <a:schemeClr val="bg2"/>
          </a:solidFill>
          <a:ln w="6350">
            <a:solidFill>
              <a:schemeClr val="bg2"/>
            </a:solidFill>
            <a:prstDash val="solid"/>
          </a:ln>
        </p:spPr>
      </p:sp>
      <p:sp>
        <p:nvSpPr>
          <p:cNvPr id="17" name="Step circle 3"/>
          <p:cNvSpPr/>
          <p:nvPr/>
        </p:nvSpPr>
        <p:spPr>
          <a:xfrm>
            <a:off x="7292340" y="1737360"/>
            <a:ext cx="548640" cy="548640"/>
          </a:xfrm>
          <a:prstGeom prst="ellipse">
            <a:avLst/>
          </a:prstGeom>
          <a:solidFill>
            <a:schemeClr val="accent1"/>
          </a:solidFill>
          <a:ln w="12700">
            <a:solidFill>
              <a:schemeClr val="accent1"/>
            </a:solidFill>
            <a:prstDash val="solid"/>
          </a:ln>
        </p:spPr>
      </p:sp>
      <p:sp>
        <p:nvSpPr>
          <p:cNvPr id="18" name="Text 16"/>
          <p:cNvSpPr txBox="1"/>
          <p:nvPr/>
        </p:nvSpPr>
        <p:spPr>
          <a:xfrm>
            <a:off x="7292340" y="1737360"/>
            <a:ext cx="548640" cy="548640"/>
          </a:xfrm>
          <a:prstGeom prst="rect">
            <a:avLst/>
          </a:prstGeom>
          <a:noFill/>
          <a:ln/>
        </p:spPr>
        <p:txBody>
          <a:bodyPr wrap="square" lIns="0" tIns="0" rIns="0" bIns="0" rtlCol="0" anchor="ctr"/>
          <a:lstStyle/>
          <a:p>
            <a:pPr marL="0" indent="0" algn="ctr">
              <a:buNone/>
            </a:pPr>
            <a:r>
              <a:rPr lang="en-US" sz="1800" b="1">
                <a:solidFill>
                  <a:schemeClr val="bg1"/>
                </a:solidFill>
              </a:rPr>
              <a:t>3</a:t>
            </a:r>
            <a:endParaRPr lang="en-US" sz="1800"/>
          </a:p>
        </p:txBody>
      </p:sp>
      <p:sp>
        <p:nvSpPr>
          <p:cNvPr id="19" name="Text 17"/>
          <p:cNvSpPr txBox="1"/>
          <p:nvPr/>
        </p:nvSpPr>
        <p:spPr>
          <a:xfrm>
            <a:off x="6263640" y="2377440"/>
            <a:ext cx="2606040" cy="320040"/>
          </a:xfrm>
          <a:prstGeom prst="rect">
            <a:avLst/>
          </a:prstGeom>
          <a:noFill/>
          <a:ln/>
        </p:spPr>
        <p:txBody>
          <a:bodyPr wrap="square" lIns="0" tIns="0" rIns="0" bIns="0" rtlCol="0" anchor="ctr"/>
          <a:lstStyle/>
          <a:p>
            <a:pPr marL="0" indent="0" algn="ctr">
              <a:buNone/>
            </a:pPr>
            <a:r>
              <a:rPr lang="en-US" sz="1400" b="1">
                <a:solidFill>
                  <a:schemeClr val="tx2"/>
                </a:solidFill>
              </a:rPr>
              <a:t>Run the Simulation</a:t>
            </a:r>
            <a:endParaRPr lang="en-US" sz="1400"/>
          </a:p>
        </p:txBody>
      </p:sp>
      <p:sp>
        <p:nvSpPr>
          <p:cNvPr id="20" name="Text 18"/>
          <p:cNvSpPr txBox="1"/>
          <p:nvPr/>
        </p:nvSpPr>
        <p:spPr>
          <a:xfrm>
            <a:off x="6419088" y="2743200"/>
            <a:ext cx="2295144" cy="1005840"/>
          </a:xfrm>
          <a:prstGeom prst="rect">
            <a:avLst/>
          </a:prstGeom>
          <a:noFill/>
          <a:ln/>
        </p:spPr>
        <p:txBody>
          <a:bodyPr wrap="square" lIns="0" tIns="0" rIns="0" bIns="0" rtlCol="0" anchor="t"/>
          <a:lstStyle/>
          <a:p>
            <a:pPr marL="0" indent="0">
              <a:buNone/>
            </a:pPr>
            <a:r>
              <a:rPr lang="en-US" sz="1400">
                <a:solidFill>
                  <a:schemeClr val="tx1"/>
                </a:solidFill>
              </a:rPr>
              <a:t>Compile with iverilog, run vvp, then open the .vcd file in GTKWave.</a:t>
            </a:r>
            <a:endParaRPr lang="en-US" sz="1400"/>
          </a:p>
        </p:txBody>
      </p:sp>
      <p:sp>
        <p:nvSpPr>
          <p:cNvPr id="21" name="Arrow 3"/>
          <p:cNvSpPr/>
          <p:nvPr/>
        </p:nvSpPr>
        <p:spPr>
          <a:xfrm rot="5400000">
            <a:off x="8897112" y="2606040"/>
            <a:ext cx="201168" cy="228600"/>
          </a:xfrm>
          <a:prstGeom prst="triangle">
            <a:avLst/>
          </a:prstGeom>
          <a:solidFill>
            <a:schemeClr val="accent2"/>
          </a:solidFill>
          <a:ln w="12700">
            <a:solidFill>
              <a:schemeClr val="accent2"/>
            </a:solidFill>
            <a:prstDash val="solid"/>
          </a:ln>
        </p:spPr>
      </p:sp>
      <p:sp>
        <p:nvSpPr>
          <p:cNvPr id="22" name="Step card 4"/>
          <p:cNvSpPr/>
          <p:nvPr/>
        </p:nvSpPr>
        <p:spPr>
          <a:xfrm>
            <a:off x="9121140" y="1600200"/>
            <a:ext cx="2606040" cy="2240280"/>
          </a:xfrm>
          <a:prstGeom prst="roundRect">
            <a:avLst>
              <a:gd name="adj" fmla="val 4082"/>
            </a:avLst>
          </a:prstGeom>
          <a:solidFill>
            <a:schemeClr val="bg2"/>
          </a:solidFill>
          <a:ln w="6350">
            <a:solidFill>
              <a:schemeClr val="bg2"/>
            </a:solidFill>
            <a:prstDash val="solid"/>
          </a:ln>
        </p:spPr>
      </p:sp>
      <p:sp>
        <p:nvSpPr>
          <p:cNvPr id="23" name="Step circle 4"/>
          <p:cNvSpPr/>
          <p:nvPr/>
        </p:nvSpPr>
        <p:spPr>
          <a:xfrm>
            <a:off x="10149840" y="1737360"/>
            <a:ext cx="548640" cy="548640"/>
          </a:xfrm>
          <a:prstGeom prst="ellipse">
            <a:avLst/>
          </a:prstGeom>
          <a:solidFill>
            <a:schemeClr val="accent1"/>
          </a:solidFill>
          <a:ln w="12700">
            <a:solidFill>
              <a:schemeClr val="accent1"/>
            </a:solidFill>
            <a:prstDash val="solid"/>
          </a:ln>
        </p:spPr>
      </p:sp>
      <p:sp>
        <p:nvSpPr>
          <p:cNvPr id="24" name="Text 22"/>
          <p:cNvSpPr txBox="1"/>
          <p:nvPr/>
        </p:nvSpPr>
        <p:spPr>
          <a:xfrm>
            <a:off x="10149840" y="1737360"/>
            <a:ext cx="548640" cy="548640"/>
          </a:xfrm>
          <a:prstGeom prst="rect">
            <a:avLst/>
          </a:prstGeom>
          <a:noFill/>
          <a:ln/>
        </p:spPr>
        <p:txBody>
          <a:bodyPr wrap="square" lIns="0" tIns="0" rIns="0" bIns="0" rtlCol="0" anchor="ctr"/>
          <a:lstStyle/>
          <a:p>
            <a:pPr marL="0" indent="0" algn="ctr">
              <a:buNone/>
            </a:pPr>
            <a:r>
              <a:rPr lang="en-US" sz="1800" b="1">
                <a:solidFill>
                  <a:schemeClr val="bg1"/>
                </a:solidFill>
              </a:rPr>
              <a:t>4</a:t>
            </a:r>
            <a:endParaRPr lang="en-US" sz="1800"/>
          </a:p>
        </p:txBody>
      </p:sp>
      <p:sp>
        <p:nvSpPr>
          <p:cNvPr id="25" name="Text 23"/>
          <p:cNvSpPr txBox="1"/>
          <p:nvPr/>
        </p:nvSpPr>
        <p:spPr>
          <a:xfrm>
            <a:off x="9121140" y="2377440"/>
            <a:ext cx="2606040" cy="320040"/>
          </a:xfrm>
          <a:prstGeom prst="rect">
            <a:avLst/>
          </a:prstGeom>
          <a:noFill/>
          <a:ln/>
        </p:spPr>
        <p:txBody>
          <a:bodyPr wrap="square" lIns="0" tIns="0" rIns="0" bIns="0" rtlCol="0" anchor="ctr"/>
          <a:lstStyle/>
          <a:p>
            <a:pPr marL="0" indent="0" algn="ctr">
              <a:buNone/>
            </a:pPr>
            <a:r>
              <a:rPr lang="en-US" sz="1400" b="1">
                <a:solidFill>
                  <a:schemeClr val="tx2"/>
                </a:solidFill>
              </a:rPr>
              <a:t>Read the Results</a:t>
            </a:r>
            <a:endParaRPr lang="en-US" sz="1400"/>
          </a:p>
        </p:txBody>
      </p:sp>
      <p:sp>
        <p:nvSpPr>
          <p:cNvPr id="26" name="Text 24"/>
          <p:cNvSpPr txBox="1"/>
          <p:nvPr/>
        </p:nvSpPr>
        <p:spPr>
          <a:xfrm>
            <a:off x="9276588" y="2743200"/>
            <a:ext cx="2295144" cy="1005840"/>
          </a:xfrm>
          <a:prstGeom prst="rect">
            <a:avLst/>
          </a:prstGeom>
          <a:noFill/>
          <a:ln/>
        </p:spPr>
        <p:txBody>
          <a:bodyPr wrap="square" lIns="0" tIns="0" rIns="0" bIns="0" rtlCol="0" anchor="t"/>
          <a:lstStyle/>
          <a:p>
            <a:pPr marL="0" indent="0">
              <a:buNone/>
            </a:pPr>
            <a:r>
              <a:rPr lang="en-US" sz="1400">
                <a:solidFill>
                  <a:schemeClr val="tx1"/>
                </a:solidFill>
              </a:rPr>
              <a:t>Exactly one of A&gt;B, A=B, A&lt;B is high for every input pair.</a:t>
            </a:r>
            <a:endParaRPr lang="en-US" sz="1400"/>
          </a:p>
        </p:txBody>
      </p:sp>
      <p:sp>
        <p:nvSpPr>
          <p:cNvPr id="27" name="Demo bar"/>
          <p:cNvSpPr/>
          <p:nvPr/>
        </p:nvSpPr>
        <p:spPr>
          <a:xfrm>
            <a:off x="548640" y="4023360"/>
            <a:ext cx="11109960" cy="2194560"/>
          </a:xfrm>
          <a:prstGeom prst="roundRect">
            <a:avLst>
              <a:gd name="adj" fmla="val 4167"/>
            </a:avLst>
          </a:prstGeom>
          <a:solidFill>
            <a:schemeClr val="tx2"/>
          </a:solidFill>
          <a:ln w="6350">
            <a:solidFill>
              <a:schemeClr val="tx2"/>
            </a:solidFill>
            <a:prstDash val="solid"/>
          </a:ln>
        </p:spPr>
      </p:sp>
      <p:sp>
        <p:nvSpPr>
          <p:cNvPr id="28" name="Text 26"/>
          <p:cNvSpPr txBox="1"/>
          <p:nvPr/>
        </p:nvSpPr>
        <p:spPr>
          <a:xfrm>
            <a:off x="868680" y="4251960"/>
            <a:ext cx="5486400" cy="320040"/>
          </a:xfrm>
          <a:prstGeom prst="rect">
            <a:avLst/>
          </a:prstGeom>
          <a:noFill/>
          <a:ln/>
        </p:spPr>
        <p:txBody>
          <a:bodyPr wrap="square" lIns="0" tIns="0" rIns="0" bIns="0" rtlCol="0" anchor="ctr"/>
          <a:lstStyle/>
          <a:p>
            <a:pPr marL="0" indent="0">
              <a:buNone/>
            </a:pPr>
            <a:r>
              <a:rPr lang="en-US" sz="1400" b="1">
                <a:solidFill>
                  <a:schemeClr val="accent3"/>
                </a:solidFill>
              </a:rPr>
              <a:t>Demo artefact:</a:t>
            </a:r>
            <a:endParaRPr lang="en-US" sz="1400"/>
          </a:p>
        </p:txBody>
      </p:sp>
      <p:sp>
        <p:nvSpPr>
          <p:cNvPr id="29" name="Text 27"/>
          <p:cNvSpPr txBox="1"/>
          <p:nvPr/>
        </p:nvSpPr>
        <p:spPr>
          <a:xfrm>
            <a:off x="868680" y="4572000"/>
            <a:ext cx="5669280" cy="640080"/>
          </a:xfrm>
          <a:prstGeom prst="rect">
            <a:avLst/>
          </a:prstGeom>
          <a:noFill/>
          <a:ln/>
        </p:spPr>
        <p:txBody>
          <a:bodyPr wrap="square" lIns="0" tIns="0" rIns="0" bIns="0" rtlCol="0" anchor="t"/>
          <a:lstStyle/>
          <a:p>
            <a:pPr marL="0" indent="0">
              <a:buNone/>
            </a:pPr>
            <a:r>
              <a:rPr lang="en-US" sz="1400">
                <a:solidFill>
                  <a:schemeClr val="bg1"/>
                </a:solidFill>
              </a:rPr>
              <a:t>Verilog design and self-checking testbench, with the truth table and waveform for all 16 input pairs.</a:t>
            </a:r>
            <a:endParaRPr lang="en-US" sz="1400"/>
          </a:p>
        </p:txBody>
      </p:sp>
      <p:sp>
        <p:nvSpPr>
          <p:cNvPr id="30" name="Text 28"/>
          <p:cNvSpPr txBox="1"/>
          <p:nvPr/>
        </p:nvSpPr>
        <p:spPr>
          <a:xfrm>
            <a:off x="868680" y="5257800"/>
            <a:ext cx="2103120" cy="457200"/>
          </a:xfrm>
          <a:prstGeom prst="rect">
            <a:avLst/>
          </a:prstGeom>
          <a:noFill/>
          <a:ln/>
        </p:spPr>
        <p:txBody>
          <a:bodyPr wrap="square" lIns="0" tIns="0" rIns="0" bIns="0" rtlCol="0" anchor="ctr"/>
          <a:lstStyle/>
          <a:p>
            <a:pPr marL="0" indent="0">
              <a:buNone/>
            </a:pPr>
            <a:r>
              <a:rPr lang="en-US" sz="2800" b="1">
                <a:solidFill>
                  <a:schemeClr val="accent3"/>
                </a:solidFill>
              </a:rPr>
              <a:t>16/16</a:t>
            </a:r>
            <a:endParaRPr lang="en-US" sz="2800"/>
          </a:p>
        </p:txBody>
      </p:sp>
      <p:sp>
        <p:nvSpPr>
          <p:cNvPr id="31" name="Text 29"/>
          <p:cNvSpPr txBox="1"/>
          <p:nvPr/>
        </p:nvSpPr>
        <p:spPr>
          <a:xfrm>
            <a:off x="868680" y="5715000"/>
            <a:ext cx="2103120" cy="274320"/>
          </a:xfrm>
          <a:prstGeom prst="rect">
            <a:avLst/>
          </a:prstGeom>
          <a:noFill/>
          <a:ln/>
        </p:spPr>
        <p:txBody>
          <a:bodyPr wrap="square" lIns="0" tIns="0" rIns="0" bIns="0" rtlCol="0" anchor="ctr"/>
          <a:lstStyle/>
          <a:p>
            <a:pPr marL="0" indent="0">
              <a:buNone/>
            </a:pPr>
            <a:r>
              <a:rPr lang="en-US" sz="1400">
                <a:solidFill>
                  <a:schemeClr val="bg2"/>
                </a:solidFill>
              </a:rPr>
              <a:t>test cases pass</a:t>
            </a:r>
            <a:endParaRPr lang="en-US" sz="1400"/>
          </a:p>
        </p:txBody>
      </p:sp>
      <p:sp>
        <p:nvSpPr>
          <p:cNvPr id="32" name="Text 30"/>
          <p:cNvSpPr txBox="1"/>
          <p:nvPr/>
        </p:nvSpPr>
        <p:spPr>
          <a:xfrm>
            <a:off x="3154680" y="5257800"/>
            <a:ext cx="2103120" cy="457200"/>
          </a:xfrm>
          <a:prstGeom prst="rect">
            <a:avLst/>
          </a:prstGeom>
          <a:noFill/>
          <a:ln/>
        </p:spPr>
        <p:txBody>
          <a:bodyPr wrap="square" lIns="0" tIns="0" rIns="0" bIns="0" rtlCol="0" anchor="ctr"/>
          <a:lstStyle/>
          <a:p>
            <a:pPr marL="0" indent="0">
              <a:buNone/>
            </a:pPr>
            <a:r>
              <a:rPr lang="en-US" sz="2800" b="1">
                <a:solidFill>
                  <a:schemeClr val="accent3"/>
                </a:solidFill>
              </a:rPr>
              <a:t>10 ns</a:t>
            </a:r>
            <a:endParaRPr lang="en-US" sz="2800"/>
          </a:p>
        </p:txBody>
      </p:sp>
      <p:sp>
        <p:nvSpPr>
          <p:cNvPr id="33" name="Text 31"/>
          <p:cNvSpPr txBox="1"/>
          <p:nvPr/>
        </p:nvSpPr>
        <p:spPr>
          <a:xfrm>
            <a:off x="3154680" y="5715000"/>
            <a:ext cx="2103120" cy="274320"/>
          </a:xfrm>
          <a:prstGeom prst="rect">
            <a:avLst/>
          </a:prstGeom>
          <a:noFill/>
          <a:ln/>
        </p:spPr>
        <p:txBody>
          <a:bodyPr wrap="square" lIns="0" tIns="0" rIns="0" bIns="0" rtlCol="0" anchor="ctr"/>
          <a:lstStyle/>
          <a:p>
            <a:pPr marL="0" indent="0">
              <a:buNone/>
            </a:pPr>
            <a:r>
              <a:rPr lang="en-US" sz="1400">
                <a:solidFill>
                  <a:schemeClr val="bg2"/>
                </a:solidFill>
              </a:rPr>
              <a:t>per input pair</a:t>
            </a:r>
            <a:endParaRPr lang="en-US" sz="1400"/>
          </a:p>
        </p:txBody>
      </p:sp>
      <p:sp>
        <p:nvSpPr>
          <p:cNvPr id="34" name="Waveform panel"/>
          <p:cNvSpPr/>
          <p:nvPr/>
        </p:nvSpPr>
        <p:spPr>
          <a:xfrm>
            <a:off x="6949440" y="4160520"/>
            <a:ext cx="4526280" cy="1920240"/>
          </a:xfrm>
          <a:prstGeom prst="roundRect">
            <a:avLst>
              <a:gd name="adj" fmla="val 4762"/>
            </a:avLst>
          </a:prstGeom>
          <a:solidFill>
            <a:schemeClr val="bg1"/>
          </a:solidFill>
          <a:ln w="6350">
            <a:solidFill>
              <a:schemeClr val="bg1"/>
            </a:solidFill>
            <a:prstDash val="solid"/>
          </a:ln>
        </p:spPr>
      </p:sp>
      <p:pic>
        <p:nvPicPr>
          <p:cNvPr id="35" name="Image 0" descr="Waveform of A1, A0, B1, B0 inputs and A&gt;B, A=B, A&lt;B outputs over 160 ns"/>
          <p:cNvPicPr>
            <a:picLocks noChangeAspect="1"/>
          </p:cNvPicPr>
          <p:nvPr/>
        </p:nvPicPr>
        <p:blipFill>
          <a:blip r:embed="rId3"/>
          <a:stretch>
            <a:fillRect/>
          </a:stretch>
        </p:blipFill>
        <p:spPr>
          <a:xfrm>
            <a:off x="7040880" y="4206240"/>
            <a:ext cx="4343400" cy="1783080"/>
          </a:xfrm>
          <a:prstGeom prst="rect">
            <a:avLst/>
          </a:prstGeom>
        </p:spPr>
      </p:pic>
      <p:sp>
        <p:nvSpPr>
          <p:cNvPr id="36" name="Slide Number Placeholder 0"/>
          <p:cNvSpPr>
            <a:spLocks noGrp="1"/>
          </p:cNvSpPr>
          <p:nvPr>
            <p:ph type="sldNum" sz="quarter" idx="4294967295"/>
          </p:nvPr>
        </p:nvSpPr>
        <p:spPr>
          <a:xfrm>
            <a:off x="11201400" y="644652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orner circle"/>
          <p:cNvSpPr/>
          <p:nvPr/>
        </p:nvSpPr>
        <p:spPr>
          <a:xfrm>
            <a:off x="7955280" y="3383280"/>
            <a:ext cx="4206240" cy="4206240"/>
          </a:xfrm>
          <a:prstGeom prst="ellipse">
            <a:avLst/>
          </a:prstGeom>
          <a:solidFill>
            <a:schemeClr val="accent6"/>
          </a:solidFill>
          <a:ln w="12700">
            <a:solidFill>
              <a:schemeClr val="accent6">
                <a:alpha val="0"/>
              </a:schemeClr>
            </a:solidFill>
            <a:prstDash val="solid"/>
          </a:ln>
        </p:spPr>
      </p:sp>
      <p:sp>
        <p:nvSpPr>
          <p:cNvPr id="3" name="Text 1"/>
          <p:cNvSpPr txBox="1"/>
          <p:nvPr/>
        </p:nvSpPr>
        <p:spPr>
          <a:xfrm>
            <a:off x="548640" y="457200"/>
            <a:ext cx="7315200" cy="274320"/>
          </a:xfrm>
          <a:prstGeom prst="rect">
            <a:avLst/>
          </a:prstGeom>
          <a:noFill/>
          <a:ln/>
        </p:spPr>
        <p:txBody>
          <a:bodyPr wrap="square" lIns="0" tIns="0" rIns="0" bIns="0" rtlCol="0" anchor="ctr"/>
          <a:lstStyle/>
          <a:p>
            <a:pPr marL="0" indent="0">
              <a:buNone/>
            </a:pPr>
            <a:r>
              <a:rPr lang="en-US" sz="1200" b="1" kern="0" spc="300">
                <a:solidFill>
                  <a:schemeClr val="accent3"/>
                </a:solidFill>
              </a:rPr>
              <a:t>GITHUB REPOSITORY</a:t>
            </a:r>
            <a:endParaRPr lang="en-US" sz="1200"/>
          </a:p>
        </p:txBody>
      </p:sp>
      <p:sp>
        <p:nvSpPr>
          <p:cNvPr id="4" name="Text 0"/>
          <p:cNvSpPr>
            <a:spLocks noGrp="1"/>
          </p:cNvSpPr>
          <p:nvPr>
            <p:ph type="title" idx="100" hasCustomPrompt="1"/>
          </p:nvPr>
        </p:nvSpPr>
        <p:spPr>
          <a:xfrm>
            <a:off x="548640" y="777240"/>
            <a:ext cx="11064240" cy="685800"/>
          </a:xfrm>
          <a:prstGeom prst="rect">
            <a:avLst/>
          </a:prstGeom>
          <a:noFill/>
          <a:ln/>
        </p:spPr>
        <p:txBody>
          <a:bodyPr wrap="square" lIns="0" tIns="0" rIns="0" bIns="0" rtlCol="0" anchor="ctr"/>
          <a:lstStyle/>
          <a:p>
            <a:pPr marL="0" indent="0" algn="l">
              <a:buNone/>
            </a:pPr>
            <a:r>
              <a:rPr lang="en-US" sz="3000" b="1">
                <a:solidFill>
                  <a:schemeClr val="bg1"/>
                </a:solidFill>
              </a:rPr>
              <a:t>Project on GitHub</a:t>
            </a:r>
            <a:endParaRPr lang="en-US" sz="3000"/>
          </a:p>
        </p:txBody>
      </p:sp>
      <p:sp>
        <p:nvSpPr>
          <p:cNvPr id="5" name="Repo card"/>
          <p:cNvSpPr/>
          <p:nvPr/>
        </p:nvSpPr>
        <p:spPr>
          <a:xfrm>
            <a:off x="548640" y="1691640"/>
            <a:ext cx="5577840" cy="3566160"/>
          </a:xfrm>
          <a:prstGeom prst="roundRect">
            <a:avLst>
              <a:gd name="adj" fmla="val 2564"/>
            </a:avLst>
          </a:prstGeom>
          <a:solidFill>
            <a:schemeClr val="accent5"/>
          </a:solidFill>
          <a:ln w="6350">
            <a:solidFill>
              <a:schemeClr val="accent5"/>
            </a:solidFill>
            <a:prstDash val="solid"/>
          </a:ln>
        </p:spPr>
      </p:sp>
      <p:sp>
        <p:nvSpPr>
          <p:cNvPr id="6" name="Text 4"/>
          <p:cNvSpPr txBox="1"/>
          <p:nvPr/>
        </p:nvSpPr>
        <p:spPr>
          <a:xfrm>
            <a:off x="822960" y="1920240"/>
            <a:ext cx="5120640" cy="365760"/>
          </a:xfrm>
          <a:prstGeom prst="rect">
            <a:avLst/>
          </a:prstGeom>
          <a:noFill/>
          <a:ln/>
        </p:spPr>
        <p:txBody>
          <a:bodyPr wrap="square" lIns="0" tIns="0" rIns="0" bIns="0" rtlCol="0" anchor="ctr"/>
          <a:lstStyle/>
          <a:p>
            <a:pPr marL="0" indent="0">
              <a:buNone/>
            </a:pPr>
            <a:r>
              <a:rPr lang="en-US" sz="1400" b="1">
                <a:solidFill>
                  <a:schemeClr val="accent3"/>
                </a:solidFill>
                <a:latin typeface="Courier New" pitchFamily="34" charset="0"/>
                <a:ea typeface="Courier New" pitchFamily="34" charset="-122"/>
                <a:cs typeface="Courier New" pitchFamily="34" charset="-120"/>
              </a:rPr>
              <a:t>2bit-magnitude-comparator /</a:t>
            </a:r>
            <a:endParaRPr lang="en-US" sz="1400"/>
          </a:p>
        </p:txBody>
      </p:sp>
      <p:sp>
        <p:nvSpPr>
          <p:cNvPr id="8" name="Text 6"/>
          <p:cNvSpPr txBox="1"/>
          <p:nvPr/>
        </p:nvSpPr>
        <p:spPr>
          <a:xfrm>
            <a:off x="655607" y="2346382"/>
            <a:ext cx="5305245" cy="2788920"/>
          </a:xfrm>
          <a:prstGeom prst="rect">
            <a:avLst/>
          </a:prstGeom>
          <a:noFill/>
          <a:ln/>
        </p:spPr>
        <p:txBody>
          <a:bodyPr wrap="square" lIns="0" tIns="0" rIns="0" bIns="0" rtlCol="0" anchor="t"/>
          <a:lstStyle/>
          <a:p>
            <a:pPr marL="0" indent="0">
              <a:spcAft>
                <a:spcPts val="800"/>
              </a:spcAft>
              <a:buNone/>
            </a:pPr>
            <a:r>
              <a:rPr lang="en-US" sz="1400">
                <a:solidFill>
                  <a:schemeClr val="bg1"/>
                </a:solidFill>
                <a:latin typeface="Courier New" pitchFamily="34" charset="0"/>
                <a:ea typeface="Courier New" pitchFamily="34" charset="-122"/>
                <a:cs typeface="Courier New" pitchFamily="34" charset="-120"/>
              </a:rPr>
              <a:t>|--KLH—FED—2026—Session-10-Batch-10</a:t>
            </a:r>
          </a:p>
          <a:p>
            <a:pPr marL="0" indent="0">
              <a:spcAft>
                <a:spcPts val="800"/>
              </a:spcAft>
              <a:buNone/>
            </a:pPr>
            <a:r>
              <a:rPr lang="en-US" sz="1400">
                <a:solidFill>
                  <a:schemeClr val="bg1"/>
                </a:solidFill>
                <a:latin typeface="Courier New" pitchFamily="34" charset="0"/>
                <a:ea typeface="Courier New" pitchFamily="34" charset="-122"/>
                <a:cs typeface="Courier New" pitchFamily="34" charset="-120"/>
              </a:rPr>
              <a:t>|-- README.md </a:t>
            </a:r>
          </a:p>
          <a:p>
            <a:pPr marL="0" indent="0">
              <a:spcAft>
                <a:spcPts val="800"/>
              </a:spcAft>
              <a:buNone/>
            </a:pPr>
            <a:r>
              <a:rPr lang="en-US" sz="1400">
                <a:solidFill>
                  <a:schemeClr val="bg1"/>
                </a:solidFill>
                <a:latin typeface="Courier New" pitchFamily="34" charset="0"/>
                <a:ea typeface="Courier New" pitchFamily="34" charset="-122"/>
                <a:cs typeface="Courier New" pitchFamily="34" charset="-120"/>
              </a:rPr>
              <a:t>|--2bit-magnitude-comparator presentation pptx</a:t>
            </a:r>
          </a:p>
          <a:p>
            <a:pPr marL="0" indent="0">
              <a:spcAft>
                <a:spcPts val="800"/>
              </a:spcAft>
              <a:buNone/>
            </a:pPr>
            <a:r>
              <a:rPr lang="en-US" sz="1400">
                <a:solidFill>
                  <a:schemeClr val="bg1"/>
                </a:solidFill>
                <a:latin typeface="Courier New" pitchFamily="34" charset="0"/>
                <a:ea typeface="Courier New" pitchFamily="34" charset="-122"/>
                <a:cs typeface="Courier New" pitchFamily="34" charset="-120"/>
              </a:rPr>
              <a:t>|--2bit magnitude-comparator.                                                                                                                                            </a:t>
            </a:r>
            <a:endParaRPr lang="en-US" sz="1400"/>
          </a:p>
        </p:txBody>
      </p:sp>
      <p:sp>
        <p:nvSpPr>
          <p:cNvPr id="9" name="Conclusion card"/>
          <p:cNvSpPr/>
          <p:nvPr/>
        </p:nvSpPr>
        <p:spPr>
          <a:xfrm>
            <a:off x="6400800" y="1691640"/>
            <a:ext cx="5257800" cy="3566160"/>
          </a:xfrm>
          <a:prstGeom prst="roundRect">
            <a:avLst>
              <a:gd name="adj" fmla="val 2564"/>
            </a:avLst>
          </a:prstGeom>
          <a:solidFill>
            <a:srgbClr val="1A3B66"/>
          </a:solidFill>
          <a:ln w="6350">
            <a:solidFill>
              <a:srgbClr val="1A3B66"/>
            </a:solidFill>
            <a:prstDash val="solid"/>
          </a:ln>
        </p:spPr>
      </p:sp>
      <p:sp>
        <p:nvSpPr>
          <p:cNvPr id="10" name="Text 8"/>
          <p:cNvSpPr txBox="1"/>
          <p:nvPr/>
        </p:nvSpPr>
        <p:spPr>
          <a:xfrm>
            <a:off x="6675120" y="1920240"/>
            <a:ext cx="4754880" cy="365760"/>
          </a:xfrm>
          <a:prstGeom prst="rect">
            <a:avLst/>
          </a:prstGeom>
          <a:noFill/>
          <a:ln/>
        </p:spPr>
        <p:txBody>
          <a:bodyPr wrap="square" lIns="0" tIns="0" rIns="0" bIns="0" rtlCol="0" anchor="ctr"/>
          <a:lstStyle/>
          <a:p>
            <a:pPr marL="0" indent="0">
              <a:buNone/>
            </a:pPr>
            <a:r>
              <a:rPr lang="en-US" sz="1600" b="1">
                <a:solidFill>
                  <a:schemeClr val="accent3"/>
                </a:solidFill>
              </a:rPr>
              <a:t>Conclusion</a:t>
            </a:r>
            <a:endParaRPr lang="en-US" sz="1600"/>
          </a:p>
        </p:txBody>
      </p:sp>
      <p:sp>
        <p:nvSpPr>
          <p:cNvPr id="11" name="Text 9"/>
          <p:cNvSpPr txBox="1"/>
          <p:nvPr/>
        </p:nvSpPr>
        <p:spPr>
          <a:xfrm>
            <a:off x="6675120" y="2423160"/>
            <a:ext cx="4754880" cy="1554480"/>
          </a:xfrm>
          <a:prstGeom prst="rect">
            <a:avLst/>
          </a:prstGeom>
          <a:noFill/>
          <a:ln/>
        </p:spPr>
        <p:txBody>
          <a:bodyPr wrap="square" lIns="0" tIns="0" rIns="0" bIns="0" rtlCol="0" anchor="t"/>
          <a:lstStyle/>
          <a:p>
            <a:pPr marL="0" indent="0">
              <a:buNone/>
            </a:pPr>
            <a:r>
              <a:rPr lang="en-US" sz="1400">
                <a:solidFill>
                  <a:schemeClr val="bg2"/>
                </a:solidFill>
              </a:rPr>
              <a:t>Two XNOR gates plus a few AND, OR and NOR gates give a one-hot A&gt;B, A=B, A&lt;B result with no software. It was verified for all 16 input pairs and published on GitHub. The same MSB-first idea cascades to wider words.</a:t>
            </a:r>
            <a:endParaRPr lang="en-US" sz="1400"/>
          </a:p>
        </p:txBody>
      </p:sp>
      <p:sp>
        <p:nvSpPr>
          <p:cNvPr id="12" name="Chip Truth Table"/>
          <p:cNvSpPr/>
          <p:nvPr/>
        </p:nvSpPr>
        <p:spPr>
          <a:xfrm>
            <a:off x="6675120" y="4297680"/>
            <a:ext cx="1188720" cy="411480"/>
          </a:xfrm>
          <a:prstGeom prst="roundRect">
            <a:avLst>
              <a:gd name="adj" fmla="val 48889"/>
            </a:avLst>
          </a:prstGeom>
          <a:solidFill>
            <a:schemeClr val="accent2"/>
          </a:solidFill>
          <a:ln w="12700">
            <a:solidFill>
              <a:schemeClr val="accent2"/>
            </a:solidFill>
            <a:prstDash val="solid"/>
          </a:ln>
        </p:spPr>
      </p:sp>
      <p:sp>
        <p:nvSpPr>
          <p:cNvPr id="13" name="Text 11"/>
          <p:cNvSpPr txBox="1"/>
          <p:nvPr/>
        </p:nvSpPr>
        <p:spPr>
          <a:xfrm>
            <a:off x="6675120" y="4297680"/>
            <a:ext cx="1188720" cy="411480"/>
          </a:xfrm>
          <a:prstGeom prst="rect">
            <a:avLst/>
          </a:prstGeom>
          <a:noFill/>
          <a:ln/>
        </p:spPr>
        <p:txBody>
          <a:bodyPr wrap="square" lIns="0" tIns="0" rIns="0" bIns="0" rtlCol="0" anchor="ctr"/>
          <a:lstStyle/>
          <a:p>
            <a:pPr marL="0" indent="0" algn="ctr">
              <a:buNone/>
            </a:pPr>
            <a:r>
              <a:rPr lang="en-US" sz="1200" b="1">
                <a:solidFill>
                  <a:schemeClr val="bg1"/>
                </a:solidFill>
              </a:rPr>
              <a:t>Truth Table</a:t>
            </a:r>
            <a:endParaRPr lang="en-US" sz="1200"/>
          </a:p>
        </p:txBody>
      </p:sp>
      <p:sp>
        <p:nvSpPr>
          <p:cNvPr id="14" name="Chip Gate Design"/>
          <p:cNvSpPr/>
          <p:nvPr/>
        </p:nvSpPr>
        <p:spPr>
          <a:xfrm>
            <a:off x="7955280" y="4297680"/>
            <a:ext cx="1234440" cy="411480"/>
          </a:xfrm>
          <a:prstGeom prst="roundRect">
            <a:avLst>
              <a:gd name="adj" fmla="val 48889"/>
            </a:avLst>
          </a:prstGeom>
          <a:solidFill>
            <a:schemeClr val="accent2"/>
          </a:solidFill>
          <a:ln w="12700">
            <a:solidFill>
              <a:schemeClr val="accent2"/>
            </a:solidFill>
            <a:prstDash val="solid"/>
          </a:ln>
        </p:spPr>
      </p:sp>
      <p:sp>
        <p:nvSpPr>
          <p:cNvPr id="15" name="Text 13"/>
          <p:cNvSpPr txBox="1"/>
          <p:nvPr/>
        </p:nvSpPr>
        <p:spPr>
          <a:xfrm>
            <a:off x="7955280" y="4297680"/>
            <a:ext cx="1234440" cy="411480"/>
          </a:xfrm>
          <a:prstGeom prst="rect">
            <a:avLst/>
          </a:prstGeom>
          <a:noFill/>
          <a:ln/>
        </p:spPr>
        <p:txBody>
          <a:bodyPr wrap="square" lIns="0" tIns="0" rIns="0" bIns="0" rtlCol="0" anchor="ctr"/>
          <a:lstStyle/>
          <a:p>
            <a:pPr marL="0" indent="0" algn="ctr">
              <a:buNone/>
            </a:pPr>
            <a:r>
              <a:rPr lang="en-US" sz="1200" b="1">
                <a:solidFill>
                  <a:schemeClr val="bg1"/>
                </a:solidFill>
              </a:rPr>
              <a:t>Gate Design</a:t>
            </a:r>
            <a:endParaRPr lang="en-US" sz="1200"/>
          </a:p>
        </p:txBody>
      </p:sp>
      <p:sp>
        <p:nvSpPr>
          <p:cNvPr id="16" name="Chip Verilog"/>
          <p:cNvSpPr/>
          <p:nvPr/>
        </p:nvSpPr>
        <p:spPr>
          <a:xfrm>
            <a:off x="9281160" y="4297680"/>
            <a:ext cx="914400" cy="411480"/>
          </a:xfrm>
          <a:prstGeom prst="roundRect">
            <a:avLst>
              <a:gd name="adj" fmla="val 48889"/>
            </a:avLst>
          </a:prstGeom>
          <a:solidFill>
            <a:schemeClr val="accent2"/>
          </a:solidFill>
          <a:ln w="12700">
            <a:solidFill>
              <a:schemeClr val="accent2"/>
            </a:solidFill>
            <a:prstDash val="solid"/>
          </a:ln>
        </p:spPr>
      </p:sp>
      <p:sp>
        <p:nvSpPr>
          <p:cNvPr id="17" name="Text 15"/>
          <p:cNvSpPr txBox="1"/>
          <p:nvPr/>
        </p:nvSpPr>
        <p:spPr>
          <a:xfrm>
            <a:off x="9281160" y="4297680"/>
            <a:ext cx="914400" cy="411480"/>
          </a:xfrm>
          <a:prstGeom prst="rect">
            <a:avLst/>
          </a:prstGeom>
          <a:noFill/>
          <a:ln/>
        </p:spPr>
        <p:txBody>
          <a:bodyPr wrap="square" lIns="0" tIns="0" rIns="0" bIns="0" rtlCol="0" anchor="ctr"/>
          <a:lstStyle/>
          <a:p>
            <a:pPr marL="0" indent="0" algn="ctr">
              <a:buNone/>
            </a:pPr>
            <a:r>
              <a:rPr lang="en-US" sz="1200" b="1">
                <a:solidFill>
                  <a:schemeClr val="bg1"/>
                </a:solidFill>
              </a:rPr>
              <a:t>Verilog</a:t>
            </a:r>
            <a:endParaRPr lang="en-US" sz="1200"/>
          </a:p>
        </p:txBody>
      </p:sp>
      <p:sp>
        <p:nvSpPr>
          <p:cNvPr id="18" name="Chip GitHub"/>
          <p:cNvSpPr/>
          <p:nvPr/>
        </p:nvSpPr>
        <p:spPr>
          <a:xfrm>
            <a:off x="10287000" y="4297680"/>
            <a:ext cx="868680" cy="411480"/>
          </a:xfrm>
          <a:prstGeom prst="roundRect">
            <a:avLst>
              <a:gd name="adj" fmla="val 48889"/>
            </a:avLst>
          </a:prstGeom>
          <a:solidFill>
            <a:schemeClr val="accent2"/>
          </a:solidFill>
          <a:ln w="12700">
            <a:solidFill>
              <a:schemeClr val="accent2"/>
            </a:solidFill>
            <a:prstDash val="solid"/>
          </a:ln>
        </p:spPr>
      </p:sp>
      <p:sp>
        <p:nvSpPr>
          <p:cNvPr id="19" name="Text 17"/>
          <p:cNvSpPr txBox="1"/>
          <p:nvPr/>
        </p:nvSpPr>
        <p:spPr>
          <a:xfrm>
            <a:off x="10287000" y="4297680"/>
            <a:ext cx="868680" cy="411480"/>
          </a:xfrm>
          <a:prstGeom prst="rect">
            <a:avLst/>
          </a:prstGeom>
          <a:noFill/>
          <a:ln/>
        </p:spPr>
        <p:txBody>
          <a:bodyPr wrap="square" lIns="0" tIns="0" rIns="0" bIns="0" rtlCol="0" anchor="ctr"/>
          <a:lstStyle/>
          <a:p>
            <a:pPr marL="0" indent="0" algn="ctr">
              <a:buNone/>
            </a:pPr>
            <a:r>
              <a:rPr lang="en-US" sz="1200" b="1">
                <a:solidFill>
                  <a:schemeClr val="bg1"/>
                </a:solidFill>
              </a:rPr>
              <a:t>GitHub</a:t>
            </a:r>
            <a:endParaRPr lang="en-US" sz="1200"/>
          </a:p>
        </p:txBody>
      </p:sp>
      <p:sp>
        <p:nvSpPr>
          <p:cNvPr id="20" name="Thanks rule"/>
          <p:cNvSpPr/>
          <p:nvPr/>
        </p:nvSpPr>
        <p:spPr>
          <a:xfrm>
            <a:off x="566928" y="5486400"/>
            <a:ext cx="1280160" cy="36576"/>
          </a:xfrm>
          <a:prstGeom prst="rect">
            <a:avLst/>
          </a:prstGeom>
          <a:solidFill>
            <a:schemeClr val="accent2"/>
          </a:solidFill>
          <a:ln w="12700">
            <a:solidFill>
              <a:schemeClr val="accent2"/>
            </a:solidFill>
            <a:prstDash val="solid"/>
          </a:ln>
        </p:spPr>
      </p:sp>
      <p:sp>
        <p:nvSpPr>
          <p:cNvPr id="21" name="Text 19"/>
          <p:cNvSpPr txBox="1"/>
          <p:nvPr/>
        </p:nvSpPr>
        <p:spPr>
          <a:xfrm>
            <a:off x="548640" y="5669280"/>
            <a:ext cx="4572000" cy="457200"/>
          </a:xfrm>
          <a:prstGeom prst="rect">
            <a:avLst/>
          </a:prstGeom>
          <a:noFill/>
          <a:ln/>
        </p:spPr>
        <p:txBody>
          <a:bodyPr wrap="square" lIns="0" tIns="0" rIns="0" bIns="0" rtlCol="0" anchor="ctr"/>
          <a:lstStyle/>
          <a:p>
            <a:pPr marL="0" indent="0">
              <a:buNone/>
            </a:pPr>
            <a:r>
              <a:rPr lang="en-US" sz="2200" b="1">
                <a:solidFill>
                  <a:schemeClr val="bg1"/>
                </a:solidFill>
                <a:latin typeface="Cambria" pitchFamily="34" charset="0"/>
                <a:ea typeface="Cambria" pitchFamily="34" charset="-122"/>
                <a:cs typeface="Cambria" pitchFamily="34" charset="-120"/>
              </a:rPr>
              <a:t>Thank You</a:t>
            </a:r>
            <a:endParaRPr lang="en-US" sz="2200"/>
          </a:p>
        </p:txBody>
      </p:sp>
      <p:sp>
        <p:nvSpPr>
          <p:cNvPr id="25" name="Slide Number Placeholder 0"/>
          <p:cNvSpPr>
            <a:spLocks noGrp="1"/>
          </p:cNvSpPr>
          <p:nvPr>
            <p:ph type="sldNum" sz="quarter" idx="4294967295"/>
          </p:nvPr>
        </p:nvSpPr>
        <p:spPr>
          <a:xfrm>
            <a:off x="11201400" y="644652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5</a:t>
            </a:fld>
            <a:endParaRPr lang="en-US"/>
          </a:p>
        </p:txBody>
      </p:sp>
    </p:spTree>
  </p:cSld>
  <p:clrMapOvr>
    <a:masterClrMapping/>
  </p:clrMapOvr>
</p:sld>
</file>

<file path=ppt/theme/theme1.xml><?xml version="1.0" encoding="utf-8"?>
<a:theme xmlns:a="http://schemas.openxmlformats.org/drawingml/2006/main" name="Parking Navy">
  <a:themeElements>
    <a:clrScheme name="Parking Navy">
      <a:dk1>
        <a:srgbClr val="1A2226"/>
      </a:dk1>
      <a:lt1>
        <a:srgbClr val="FFFFFF"/>
      </a:lt1>
      <a:dk2>
        <a:srgbClr val="21295C"/>
      </a:dk2>
      <a:lt2>
        <a:srgbClr val="EAF3F6"/>
      </a:lt2>
      <a:accent1>
        <a:srgbClr val="065A82"/>
      </a:accent1>
      <a:accent2>
        <a:srgbClr val="1C7293"/>
      </a:accent2>
      <a:accent3>
        <a:srgbClr val="8FC7DE"/>
      </a:accent3>
      <a:accent4>
        <a:srgbClr val="5A6B75"/>
      </a:accent4>
      <a:accent5>
        <a:srgbClr val="17254D"/>
      </a:accent5>
      <a:accent6>
        <a:srgbClr val="1B4A7A"/>
      </a:accent6>
      <a:hlink>
        <a:srgbClr val="065A82"/>
      </a:hlink>
      <a:folHlink>
        <a:srgbClr val="5A6B75"/>
      </a:folHlink>
    </a:clrScheme>
    <a:fontScheme name="Parking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Slides>
  <Notes>5</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Parking Navy</vt:lpstr>
      <vt:lpstr>2-Bit Magnitude Comparator (A&gt;B, A=B, A&lt;B)</vt:lpstr>
      <vt:lpstr>Why Do We Need a Magnitude Comparator?</vt:lpstr>
      <vt:lpstr>From Truth Table to Gate-Level Circuit</vt:lpstr>
      <vt:lpstr>Simulating the Circuit in Verilog</vt:lpstr>
      <vt:lpstr>Project on GitHub</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2-Bit Magnitude Comparator</dc:title>
  <dc:subject>PptxGenJS Presentation</dc:subject>
  <dc:creator>PptxGenJS</dc:creator>
  <cp:revision>4</cp:revision>
  <dcterms:created xsi:type="dcterms:W3CDTF">2026-10-13T08:34:35Z</dcterms:created>
  <dcterms:modified xsi:type="dcterms:W3CDTF">2026-10-15T03:22:54Z</dcterms:modified>
</cp:coreProperties>
</file>